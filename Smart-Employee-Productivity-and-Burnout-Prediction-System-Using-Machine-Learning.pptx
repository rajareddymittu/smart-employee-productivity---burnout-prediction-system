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Platypi Light"/>
      <p:regular r:id="rId201314"/>
    </p:embeddedFont>
    <p:embeddedFont>
      <p:font typeface="Platypi"/>
      <p:regular r:id="rId201315"/>
    </p:embeddedFont>
    <p:embeddedFont>
      <p:font typeface="Platypi Medium"/>
      <p:regular r:id="rId201316"/>
    </p:embeddedFont>
    <p:embeddedFont>
      <p:font typeface="Platypi SemiBold"/>
      <p:regular r:id="rId201317"/>
    </p:embeddedFont>
    <p:embeddedFont>
      <p:font typeface="Platypi Bold"/>
      <p:regular r:id="rId201318"/>
    </p:embeddedFont>
    <p:embeddedFont>
      <p:font typeface="Platypi ExtraBold"/>
      <p:regular r:id="rId201319"/>
    </p:embeddedFont>
    <p:embeddedFont>
      <p:font typeface="Source Serif 4 ExtraLight"/>
      <p:regular r:id="rId201320"/>
    </p:embeddedFont>
    <p:embeddedFont>
      <p:font typeface="Source Serif 4 Light"/>
      <p:regular r:id="rId201321"/>
    </p:embeddedFont>
    <p:embeddedFont>
      <p:font typeface="Source Serif 4"/>
      <p:regular r:id="rId201322"/>
    </p:embeddedFont>
    <p:embeddedFont>
      <p:font typeface="Source Serif 4 Medium"/>
      <p:regular r:id="rId201323"/>
    </p:embeddedFont>
    <p:embeddedFont>
      <p:font typeface="Source Serif 4 SemiBold"/>
      <p:regular r:id="rId201324"/>
    </p:embeddedFont>
    <p:embeddedFont>
      <p:font typeface="Source Serif 4 Bold"/>
      <p:regular r:id="rId201325"/>
    </p:embeddedFont>
    <p:embeddedFont>
      <p:font typeface="Source Serif 4 ExtraBold"/>
      <p:regular r:id="rId201326"/>
    </p:embeddedFont>
    <p:embeddedFont>
      <p:font typeface="Source Serif 4 Black"/>
      <p:regular r:id="rId20132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 Id="rId201328" Target="fonts/201328.fntdata" Type="http://schemas.openxmlformats.org/officeDocument/2006/relationships/font"/><Relationship Id="rId201329" Target="fonts/201329.fntdata" Type="http://schemas.openxmlformats.org/officeDocument/2006/relationships/font"/><Relationship Id="rId201330" Target="fonts/201330.fntdata" Type="http://schemas.openxmlformats.org/officeDocument/2006/relationships/font"/><Relationship Id="rId201331" Target="fonts/20133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3F0"/>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image" Target="../media/image-3-9.png"/><Relationship Id="rId10" Type="http://schemas.openxmlformats.org/officeDocument/2006/relationships/image" Target="../media/image-3-10.svg"/><Relationship Id="rId11" Type="http://schemas.openxmlformats.org/officeDocument/2006/relationships/image" Target="../media/image-3-9.png"/><Relationship Id="rId12" Type="http://schemas.openxmlformats.org/officeDocument/2006/relationships/image" Target="../media/image-3-10.svg"/><Relationship Id="rId13" Type="http://schemas.openxmlformats.org/officeDocument/2006/relationships/slideLayout" Target="../slideLayouts/slideLayout2.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1.png"/><Relationship Id="rId4" Type="http://schemas.openxmlformats.org/officeDocument/2006/relationships/image" Target="../media/image-9-2.svg"/><Relationship Id="rId5" Type="http://schemas.openxmlformats.org/officeDocument/2006/relationships/image" Target="../media/image-9-1.png"/><Relationship Id="rId6" Type="http://schemas.openxmlformats.org/officeDocument/2006/relationships/image" Target="../media/image-9-2.svg"/><Relationship Id="rId7" Type="http://schemas.openxmlformats.org/officeDocument/2006/relationships/image" Target="../media/image-9-1.png"/><Relationship Id="rId8" Type="http://schemas.openxmlformats.org/officeDocument/2006/relationships/image" Target="../media/image-9-2.sv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1.png"/><Relationship Id="rId4" Type="http://schemas.openxmlformats.org/officeDocument/2006/relationships/image" Target="../media/image-10-2.svg"/><Relationship Id="rId5" Type="http://schemas.openxmlformats.org/officeDocument/2006/relationships/image" Target="../media/image-10-1.png"/><Relationship Id="rId6" Type="http://schemas.openxmlformats.org/officeDocument/2006/relationships/image" Target="../media/image-10-2.svg"/><Relationship Id="rId7" Type="http://schemas.openxmlformats.org/officeDocument/2006/relationships/image" Target="../media/image-10-7.png"/><Relationship Id="rId8" Type="http://schemas.openxmlformats.org/officeDocument/2006/relationships/slideLayout" Target="../slideLayouts/slideLayout2.xml"/><Relationship Id="rId9"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715000" y="0"/>
            <a:ext cx="3429000" cy="5143500"/>
          </a:xfrm>
          <a:prstGeom prst="rect">
            <a:avLst/>
          </a:prstGeom>
          <a:solidFill>
            <a:srgbClr val="F9F7F7"/>
          </a:solidFill>
          <a:ln/>
        </p:spPr>
      </p:sp>
      <p:pic>
        <p:nvPicPr>
          <p:cNvPr id="3" name="Image 0" descr="preencoded.png">    </p:cNvPr>
          <p:cNvPicPr>
            <a:picLocks noChangeAspect="1"/>
          </p:cNvPicPr>
          <p:nvPr/>
        </p:nvPicPr>
        <p:blipFill>
          <a:blip r:embed="rId1"/>
          <a:stretch>
            <a:fillRect/>
          </a:stretch>
        </p:blipFill>
        <p:spPr>
          <a:xfrm>
            <a:off x="5776987" y="92943"/>
            <a:ext cx="3305026" cy="4957539"/>
          </a:xfrm>
          <a:prstGeom prst="rect">
            <a:avLst/>
          </a:prstGeom>
        </p:spPr>
      </p:pic>
      <p:sp>
        <p:nvSpPr>
          <p:cNvPr id="4" name="Text 1"/>
          <p:cNvSpPr/>
          <p:nvPr/>
        </p:nvSpPr>
        <p:spPr>
          <a:xfrm>
            <a:off x="496119" y="1314078"/>
            <a:ext cx="4722763" cy="1162645"/>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201B18"/>
                </a:solidFill>
                <a:latin typeface="Platypi Medium" pitchFamily="34" charset="0"/>
                <a:ea typeface="Platypi Medium" pitchFamily="34" charset="-122"/>
                <a:cs typeface="Platypi Medium" pitchFamily="34" charset="-120"/>
              </a:rPr>
              <a:t>Smart Employee Productivity &amp; Burnout Prediction System Using Machine Learning</a:t>
            </a:r>
            <a:endParaRPr lang="en-US" sz="2400" dirty="0"/>
          </a:p>
        </p:txBody>
      </p:sp>
      <p:sp>
        <p:nvSpPr>
          <p:cNvPr id="5" name="Text 2"/>
          <p:cNvSpPr/>
          <p:nvPr/>
        </p:nvSpPr>
        <p:spPr>
          <a:xfrm>
            <a:off x="496119" y="2662758"/>
            <a:ext cx="4722763"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504C49"/>
                </a:solidFill>
                <a:latin typeface="Source Serif 4" pitchFamily="34" charset="0"/>
                <a:ea typeface="Source Serif 4" pitchFamily="34" charset="-122"/>
                <a:cs typeface="Source Serif 4" pitchFamily="34" charset="-120"/>
              </a:rPr>
              <a:t>A Major Project Report submitted in partial fulfillment of the requirements for the award of the Degree of </a:t>
            </a:r>
            <a:pPr algn="l" indent="0" marL="0">
              <a:lnSpc>
                <a:spcPct val="133000"/>
              </a:lnSpc>
              <a:buNone/>
            </a:pPr>
            <a:r>
              <a:rPr lang="en-US" sz="950" b="1" dirty="0">
                <a:solidFill>
                  <a:srgbClr val="504C49"/>
                </a:solidFill>
                <a:latin typeface="Source Serif 4 Bold" pitchFamily="34" charset="0"/>
                <a:ea typeface="Source Serif 4 Bold" pitchFamily="34" charset="-122"/>
                <a:cs typeface="Source Serif 4 Bold" pitchFamily="34" charset="-120"/>
              </a:rPr>
              <a:t>Master of Computer Applications (MCA)</a:t>
            </a:r>
            <a:pPr algn="l" indent="0" marL="0">
              <a:lnSpc>
                <a:spcPct val="133000"/>
              </a:lnSpc>
              <a:buNone/>
            </a:pPr>
            <a:r>
              <a:rPr lang="en-US" sz="950" dirty="0">
                <a:solidFill>
                  <a:srgbClr val="504C49"/>
                </a:solidFill>
                <a:latin typeface="Source Serif 4" pitchFamily="34" charset="0"/>
                <a:ea typeface="Source Serif 4" pitchFamily="34" charset="-122"/>
                <a:cs typeface="Source Serif 4" pitchFamily="34" charset="-120"/>
              </a:rPr>
              <a:t>, Centre for Distance &amp; Online Education, Chandigarh University, Mohali, Punjab, India. Batch: July 2023 | Semester: Fourth Semester | Academic Year: 2025–2026</a:t>
            </a:r>
            <a:endParaRPr lang="en-US" sz="950" dirty="0"/>
          </a:p>
        </p:txBody>
      </p:sp>
      <p:sp>
        <p:nvSpPr>
          <p:cNvPr id="6" name="Shape 3"/>
          <p:cNvSpPr/>
          <p:nvPr/>
        </p:nvSpPr>
        <p:spPr>
          <a:xfrm>
            <a:off x="496119" y="3596134"/>
            <a:ext cx="588020" cy="233214"/>
          </a:xfrm>
          <a:prstGeom prst="roundRect">
            <a:avLst>
              <a:gd name="adj" fmla="val 6383"/>
            </a:avLst>
          </a:prstGeom>
          <a:solidFill>
            <a:srgbClr val="F3E3D8"/>
          </a:solidFill>
          <a:ln/>
        </p:spPr>
      </p:sp>
      <p:sp>
        <p:nvSpPr>
          <p:cNvPr id="7" name="Text 4"/>
          <p:cNvSpPr/>
          <p:nvPr/>
        </p:nvSpPr>
        <p:spPr>
          <a:xfrm>
            <a:off x="570533" y="3633341"/>
            <a:ext cx="896392" cy="158800"/>
          </a:xfrm>
          <a:prstGeom prst="rect">
            <a:avLst/>
          </a:prstGeom>
          <a:noFill/>
          <a:ln/>
        </p:spPr>
        <p:txBody>
          <a:bodyPr wrap="none" lIns="0" tIns="0" rIns="0" bIns="0" rtlCol="0" anchor="t"/>
          <a:lstStyle/>
          <a:p>
            <a:pPr algn="l" indent="0" marL="0">
              <a:lnSpc>
                <a:spcPct val="133000"/>
              </a:lnSpc>
              <a:buNone/>
            </a:pPr>
            <a:r>
              <a:rPr lang="en-US" sz="750" dirty="0">
                <a:solidFill>
                  <a:srgbClr val="504C49"/>
                </a:solidFill>
                <a:latin typeface="Source Serif 4" pitchFamily="34" charset="0"/>
                <a:ea typeface="Source Serif 4" pitchFamily="34" charset="-122"/>
                <a:cs typeface="Source Serif 4" pitchFamily="34" charset="-120"/>
              </a:rPr>
              <a:t>REACT.JS</a:t>
            </a:r>
            <a:endParaRPr lang="en-US" sz="750" dirty="0"/>
          </a:p>
        </p:txBody>
      </p:sp>
      <p:sp>
        <p:nvSpPr>
          <p:cNvPr id="8" name="Shape 5"/>
          <p:cNvSpPr/>
          <p:nvPr/>
        </p:nvSpPr>
        <p:spPr>
          <a:xfrm>
            <a:off x="1146125" y="3596134"/>
            <a:ext cx="1054968" cy="233214"/>
          </a:xfrm>
          <a:prstGeom prst="roundRect">
            <a:avLst>
              <a:gd name="adj" fmla="val 6383"/>
            </a:avLst>
          </a:prstGeom>
          <a:solidFill>
            <a:srgbClr val="F3E3D8"/>
          </a:solidFill>
          <a:ln/>
        </p:spPr>
      </p:sp>
      <p:sp>
        <p:nvSpPr>
          <p:cNvPr id="9" name="Text 6"/>
          <p:cNvSpPr/>
          <p:nvPr/>
        </p:nvSpPr>
        <p:spPr>
          <a:xfrm>
            <a:off x="1220539" y="3633341"/>
            <a:ext cx="1363340" cy="158800"/>
          </a:xfrm>
          <a:prstGeom prst="rect">
            <a:avLst/>
          </a:prstGeom>
          <a:noFill/>
          <a:ln/>
        </p:spPr>
        <p:txBody>
          <a:bodyPr wrap="none" lIns="0" tIns="0" rIns="0" bIns="0" rtlCol="0" anchor="t"/>
          <a:lstStyle/>
          <a:p>
            <a:pPr algn="l" indent="0" marL="0">
              <a:lnSpc>
                <a:spcPct val="133000"/>
              </a:lnSpc>
              <a:buNone/>
            </a:pPr>
            <a:r>
              <a:rPr lang="en-US" sz="750" dirty="0">
                <a:solidFill>
                  <a:srgbClr val="504C49"/>
                </a:solidFill>
                <a:latin typeface="Source Serif 4" pitchFamily="34" charset="0"/>
                <a:ea typeface="Source Serif 4" pitchFamily="34" charset="-122"/>
                <a:cs typeface="Source Serif 4" pitchFamily="34" charset="-120"/>
              </a:rPr>
              <a:t>PYTHON (FASTAPI)</a:t>
            </a:r>
            <a:endParaRPr lang="en-US" sz="750" dirty="0"/>
          </a:p>
        </p:txBody>
      </p:sp>
      <p:sp>
        <p:nvSpPr>
          <p:cNvPr id="10" name="Shape 7"/>
          <p:cNvSpPr/>
          <p:nvPr/>
        </p:nvSpPr>
        <p:spPr>
          <a:xfrm>
            <a:off x="2263080" y="3596134"/>
            <a:ext cx="841325" cy="233214"/>
          </a:xfrm>
          <a:prstGeom prst="roundRect">
            <a:avLst>
              <a:gd name="adj" fmla="val 6383"/>
            </a:avLst>
          </a:prstGeom>
          <a:solidFill>
            <a:srgbClr val="F3E3D8"/>
          </a:solidFill>
          <a:ln/>
        </p:spPr>
      </p:sp>
      <p:sp>
        <p:nvSpPr>
          <p:cNvPr id="11" name="Text 8"/>
          <p:cNvSpPr/>
          <p:nvPr/>
        </p:nvSpPr>
        <p:spPr>
          <a:xfrm>
            <a:off x="2337495" y="3633341"/>
            <a:ext cx="1149697" cy="158800"/>
          </a:xfrm>
          <a:prstGeom prst="rect">
            <a:avLst/>
          </a:prstGeom>
          <a:noFill/>
          <a:ln/>
        </p:spPr>
        <p:txBody>
          <a:bodyPr wrap="none" lIns="0" tIns="0" rIns="0" bIns="0" rtlCol="0" anchor="t"/>
          <a:lstStyle/>
          <a:p>
            <a:pPr algn="l" indent="0" marL="0">
              <a:lnSpc>
                <a:spcPct val="133000"/>
              </a:lnSpc>
              <a:buNone/>
            </a:pPr>
            <a:r>
              <a:rPr lang="en-US" sz="750" dirty="0">
                <a:solidFill>
                  <a:srgbClr val="504C49"/>
                </a:solidFill>
                <a:latin typeface="Source Serif 4" pitchFamily="34" charset="0"/>
                <a:ea typeface="Source Serif 4" pitchFamily="34" charset="-122"/>
                <a:cs typeface="Source Serif 4" pitchFamily="34" charset="-120"/>
              </a:rPr>
              <a:t>SCIKIT-LEARN</a:t>
            </a:r>
            <a:endParaRPr lang="en-US" sz="750" dirty="0"/>
          </a:p>
        </p:txBody>
      </p:sp>
      <p:sp>
        <p:nvSpPr>
          <p:cNvPr id="12" name="Shape 9"/>
          <p:cNvSpPr/>
          <p:nvPr/>
        </p:nvSpPr>
        <p:spPr>
          <a:xfrm>
            <a:off x="3166393" y="3596134"/>
            <a:ext cx="786408" cy="233214"/>
          </a:xfrm>
          <a:prstGeom prst="roundRect">
            <a:avLst>
              <a:gd name="adj" fmla="val 6383"/>
            </a:avLst>
          </a:prstGeom>
          <a:solidFill>
            <a:srgbClr val="F3E3D8"/>
          </a:solidFill>
          <a:ln/>
        </p:spPr>
      </p:sp>
      <p:sp>
        <p:nvSpPr>
          <p:cNvPr id="13" name="Text 10"/>
          <p:cNvSpPr/>
          <p:nvPr/>
        </p:nvSpPr>
        <p:spPr>
          <a:xfrm>
            <a:off x="3240807" y="3633341"/>
            <a:ext cx="1094780" cy="158800"/>
          </a:xfrm>
          <a:prstGeom prst="rect">
            <a:avLst/>
          </a:prstGeom>
          <a:noFill/>
          <a:ln/>
        </p:spPr>
        <p:txBody>
          <a:bodyPr wrap="none" lIns="0" tIns="0" rIns="0" bIns="0" rtlCol="0" anchor="t"/>
          <a:lstStyle/>
          <a:p>
            <a:pPr algn="l" indent="0" marL="0">
              <a:lnSpc>
                <a:spcPct val="133000"/>
              </a:lnSpc>
              <a:buNone/>
            </a:pPr>
            <a:r>
              <a:rPr lang="en-US" sz="750" dirty="0">
                <a:solidFill>
                  <a:srgbClr val="504C49"/>
                </a:solidFill>
                <a:latin typeface="Source Serif 4" pitchFamily="34" charset="0"/>
                <a:ea typeface="Source Serif 4" pitchFamily="34" charset="-122"/>
                <a:cs typeface="Source Serif 4" pitchFamily="34" charset="-120"/>
              </a:rPr>
              <a:t>POSTGRESQL</a:t>
            </a:r>
            <a:endParaRPr lang="en-US" sz="750" dirty="0"/>
          </a:p>
        </p:txBody>
      </p:sp>
      <p:sp>
        <p:nvSpPr>
          <p:cNvPr id="14" name="Shape 11"/>
          <p:cNvSpPr/>
          <p:nvPr/>
        </p:nvSpPr>
        <p:spPr>
          <a:xfrm>
            <a:off x="4014788" y="3596134"/>
            <a:ext cx="349002" cy="233214"/>
          </a:xfrm>
          <a:prstGeom prst="roundRect">
            <a:avLst>
              <a:gd name="adj" fmla="val 6383"/>
            </a:avLst>
          </a:prstGeom>
          <a:solidFill>
            <a:srgbClr val="F3E3D8"/>
          </a:solidFill>
          <a:ln/>
        </p:spPr>
      </p:sp>
      <p:sp>
        <p:nvSpPr>
          <p:cNvPr id="15" name="Text 12"/>
          <p:cNvSpPr/>
          <p:nvPr/>
        </p:nvSpPr>
        <p:spPr>
          <a:xfrm>
            <a:off x="4089202" y="3633341"/>
            <a:ext cx="657374" cy="158800"/>
          </a:xfrm>
          <a:prstGeom prst="rect">
            <a:avLst/>
          </a:prstGeom>
          <a:noFill/>
          <a:ln/>
        </p:spPr>
        <p:txBody>
          <a:bodyPr wrap="none" lIns="0" tIns="0" rIns="0" bIns="0" rtlCol="0" anchor="t"/>
          <a:lstStyle/>
          <a:p>
            <a:pPr algn="l" indent="0" marL="0">
              <a:lnSpc>
                <a:spcPct val="133000"/>
              </a:lnSpc>
              <a:buNone/>
            </a:pPr>
            <a:r>
              <a:rPr lang="en-US" sz="750" dirty="0">
                <a:solidFill>
                  <a:srgbClr val="504C49"/>
                </a:solidFill>
                <a:latin typeface="Source Serif 4" pitchFamily="34" charset="0"/>
                <a:ea typeface="Source Serif 4" pitchFamily="34" charset="-122"/>
                <a:cs typeface="Source Serif 4" pitchFamily="34" charset="-120"/>
              </a:rPr>
              <a:t>JWT</a:t>
            </a:r>
            <a:endParaRPr lang="en-US" sz="750" dirty="0"/>
          </a:p>
        </p:txBody>
      </p:sp>
      <p:sp>
        <p:nvSpPr>
          <p:cNvPr id="16" name="Shape 13"/>
          <p:cNvSpPr/>
          <p:nvPr/>
        </p:nvSpPr>
        <p:spPr>
          <a:xfrm>
            <a:off x="4425776" y="3596134"/>
            <a:ext cx="584895" cy="233214"/>
          </a:xfrm>
          <a:prstGeom prst="roundRect">
            <a:avLst>
              <a:gd name="adj" fmla="val 6383"/>
            </a:avLst>
          </a:prstGeom>
          <a:solidFill>
            <a:srgbClr val="F3E3D8"/>
          </a:solidFill>
          <a:ln/>
        </p:spPr>
      </p:sp>
      <p:sp>
        <p:nvSpPr>
          <p:cNvPr id="17" name="Text 14"/>
          <p:cNvSpPr/>
          <p:nvPr/>
        </p:nvSpPr>
        <p:spPr>
          <a:xfrm>
            <a:off x="4500190" y="3633341"/>
            <a:ext cx="893266" cy="158800"/>
          </a:xfrm>
          <a:prstGeom prst="rect">
            <a:avLst/>
          </a:prstGeom>
          <a:noFill/>
          <a:ln/>
        </p:spPr>
        <p:txBody>
          <a:bodyPr wrap="none" lIns="0" tIns="0" rIns="0" bIns="0" rtlCol="0" anchor="t"/>
          <a:lstStyle/>
          <a:p>
            <a:pPr algn="l" indent="0" marL="0">
              <a:lnSpc>
                <a:spcPct val="133000"/>
              </a:lnSpc>
              <a:buNone/>
            </a:pPr>
            <a:r>
              <a:rPr lang="en-US" sz="750" dirty="0">
                <a:solidFill>
                  <a:srgbClr val="504C49"/>
                </a:solidFill>
                <a:latin typeface="Source Serif 4" pitchFamily="34" charset="0"/>
                <a:ea typeface="Source Serif 4" pitchFamily="34" charset="-122"/>
                <a:cs typeface="Source Serif 4" pitchFamily="34" charset="-120"/>
              </a:rPr>
              <a:t>REST API</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706041"/>
            <a:ext cx="3558332" cy="387548"/>
          </a:xfrm>
          <a:prstGeom prst="rect">
            <a:avLst/>
          </a:prstGeom>
          <a:noFill/>
          <a:ln/>
        </p:spPr>
        <p:txBody>
          <a:bodyPr wrap="none" lIns="0" tIns="0" rIns="0" bIns="0" rtlCol="0" anchor="t"/>
          <a:lstStyle/>
          <a:p>
            <a:pPr algn="l" indent="0" marL="0">
              <a:lnSpc>
                <a:spcPct val="104000"/>
              </a:lnSpc>
              <a:buNone/>
            </a:pPr>
            <a:r>
              <a:rPr lang="en-US" sz="2400" dirty="0">
                <a:solidFill>
                  <a:srgbClr val="201B18"/>
                </a:solidFill>
                <a:latin typeface="Platypi Medium" pitchFamily="34" charset="0"/>
                <a:ea typeface="Platypi Medium" pitchFamily="34" charset="-122"/>
                <a:cs typeface="Platypi Medium" pitchFamily="34" charset="-120"/>
              </a:rPr>
              <a:t>Abstract</a:t>
            </a:r>
            <a:endParaRPr lang="en-US" sz="2400" dirty="0"/>
          </a:p>
        </p:txBody>
      </p:sp>
      <p:sp>
        <p:nvSpPr>
          <p:cNvPr id="3" name="Text 1"/>
          <p:cNvSpPr/>
          <p:nvPr/>
        </p:nvSpPr>
        <p:spPr>
          <a:xfrm>
            <a:off x="496119" y="1341611"/>
            <a:ext cx="815176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504C49"/>
                </a:solidFill>
                <a:latin typeface="Source Serif 4" pitchFamily="34" charset="0"/>
                <a:ea typeface="Source Serif 4" pitchFamily="34" charset="-122"/>
                <a:cs typeface="Source Serif 4" pitchFamily="34" charset="-120"/>
              </a:rPr>
              <a:t>Employee burnout reduces productivity, increases absenteeism, and drives turnover. Traditional HR systems lack predictive capabilities to identify at-risk employees before performance declines. This project integrates modern web technologies with Machine Learning to build an intelligent platform for employee management and burnout prediction.</a:t>
            </a:r>
            <a:endParaRPr lang="en-US" sz="950" dirty="0"/>
          </a:p>
        </p:txBody>
      </p:sp>
      <p:sp>
        <p:nvSpPr>
          <p:cNvPr id="4" name="Shape 2"/>
          <p:cNvSpPr/>
          <p:nvPr/>
        </p:nvSpPr>
        <p:spPr>
          <a:xfrm>
            <a:off x="406822" y="2076524"/>
            <a:ext cx="4103191" cy="2360935"/>
          </a:xfrm>
          <a:prstGeom prst="roundRect">
            <a:avLst>
              <a:gd name="adj" fmla="val 788"/>
            </a:avLst>
          </a:prstGeom>
          <a:solidFill>
            <a:srgbClr val="3E2513"/>
          </a:solidFill>
          <a:ln/>
        </p:spPr>
      </p:sp>
      <p:sp>
        <p:nvSpPr>
          <p:cNvPr id="5" name="Text 3"/>
          <p:cNvSpPr/>
          <p:nvPr/>
        </p:nvSpPr>
        <p:spPr>
          <a:xfrm>
            <a:off x="530796" y="2200498"/>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Platypi Medium" pitchFamily="34" charset="0"/>
                <a:ea typeface="Platypi Medium" pitchFamily="34" charset="-122"/>
                <a:cs typeface="Platypi Medium" pitchFamily="34" charset="-120"/>
              </a:rPr>
              <a:t>Core Capabilities</a:t>
            </a:r>
            <a:endParaRPr lang="en-US" sz="1200" dirty="0"/>
          </a:p>
        </p:txBody>
      </p:sp>
      <p:sp>
        <p:nvSpPr>
          <p:cNvPr id="6" name="Text 4"/>
          <p:cNvSpPr/>
          <p:nvPr/>
        </p:nvSpPr>
        <p:spPr>
          <a:xfrm>
            <a:off x="530796" y="2518321"/>
            <a:ext cx="3855244" cy="1562770"/>
          </a:xfrm>
          <a:prstGeom prst="rect">
            <a:avLst/>
          </a:prstGeom>
          <a:noFill/>
          <a:ln/>
        </p:spPr>
        <p:txBody>
          <a:bodyPr wrap="square" lIns="0" tIns="0" rIns="0" bIns="0" rtlCol="0" anchor="t">
            <a:normAutofit/>
          </a:bodyPr>
          <a:lstStyle/>
          <a:p>
            <a:pPr algn="l" marL="193040" indent="-193040">
              <a:lnSpc>
                <a:spcPct val="133000"/>
              </a:lnSpc>
              <a:buSzPct val="100000"/>
              <a:buChar char="•"/>
            </a:pPr>
            <a:r>
              <a:rPr lang="en-US" sz="950" dirty="0">
                <a:solidFill>
                  <a:srgbClr val="FFFFFF"/>
                </a:solidFill>
                <a:latin typeface="Source Serif 4" pitchFamily="34" charset="0"/>
                <a:ea typeface="Source Serif 4" pitchFamily="34" charset="-122"/>
                <a:cs typeface="Source Serif 4" pitchFamily="34" charset="-120"/>
              </a:rPr>
              <a:t>Analyze workload, attendance, working hours, and performance metrics</a:t>
            </a:r>
            <a:endParaRPr lang="en-US" sz="950" dirty="0"/>
          </a:p>
          <a:p>
            <a:pPr algn="l" marL="193040" indent="-193040">
              <a:lnSpc>
                <a:spcPct val="133000"/>
              </a:lnSpc>
              <a:buSzPct val="100000"/>
              <a:buChar char="•"/>
            </a:pPr>
            <a:r>
              <a:rPr lang="en-US" sz="950" dirty="0">
                <a:solidFill>
                  <a:srgbClr val="FFFFFF"/>
                </a:solidFill>
                <a:latin typeface="Source Serif 4" pitchFamily="34" charset="0"/>
                <a:ea typeface="Source Serif 4" pitchFamily="34" charset="-122"/>
                <a:cs typeface="Source Serif 4" pitchFamily="34" charset="-120"/>
              </a:rPr>
              <a:t>Predict burnout risk levels using ML algorithms</a:t>
            </a:r>
            <a:endParaRPr lang="en-US" sz="950" dirty="0"/>
          </a:p>
          <a:p>
            <a:pPr algn="l" marL="193040" indent="-193040">
              <a:lnSpc>
                <a:spcPct val="133000"/>
              </a:lnSpc>
              <a:buSzPct val="100000"/>
              <a:buChar char="•"/>
            </a:pPr>
            <a:r>
              <a:rPr lang="en-US" sz="950" dirty="0">
                <a:solidFill>
                  <a:srgbClr val="FFFFFF"/>
                </a:solidFill>
                <a:latin typeface="Source Serif 4" pitchFamily="34" charset="0"/>
                <a:ea typeface="Source Serif 4" pitchFamily="34" charset="-122"/>
                <a:cs typeface="Source Serif 4" pitchFamily="34" charset="-120"/>
              </a:rPr>
              <a:t>Role-Based Access Control (RBAC) for Admins, HR, and Employees</a:t>
            </a:r>
            <a:endParaRPr lang="en-US" sz="950" dirty="0"/>
          </a:p>
          <a:p>
            <a:pPr algn="l" marL="193040" indent="-193040">
              <a:lnSpc>
                <a:spcPct val="133000"/>
              </a:lnSpc>
              <a:buSzPct val="100000"/>
              <a:buChar char="•"/>
            </a:pPr>
            <a:r>
              <a:rPr lang="en-US" sz="950" dirty="0">
                <a:solidFill>
                  <a:srgbClr val="FFFFFF"/>
                </a:solidFill>
                <a:latin typeface="Source Serif 4" pitchFamily="34" charset="0"/>
                <a:ea typeface="Source Serif 4" pitchFamily="34" charset="-122"/>
                <a:cs typeface="Source Serif 4" pitchFamily="34" charset="-120"/>
              </a:rPr>
              <a:t>Interactive dashboards and productivity analytics</a:t>
            </a:r>
            <a:endParaRPr lang="en-US" sz="950" dirty="0"/>
          </a:p>
          <a:p>
            <a:pPr algn="l" marL="193040" indent="-193040">
              <a:lnSpc>
                <a:spcPct val="133000"/>
              </a:lnSpc>
              <a:buSzPct val="100000"/>
              <a:buChar char="•"/>
            </a:pPr>
            <a:r>
              <a:rPr lang="en-US" sz="950" dirty="0">
                <a:solidFill>
                  <a:srgbClr val="FFFFFF"/>
                </a:solidFill>
                <a:latin typeface="Source Serif 4" pitchFamily="34" charset="0"/>
                <a:ea typeface="Source Serif 4" pitchFamily="34" charset="-122"/>
                <a:cs typeface="Source Serif 4" pitchFamily="34" charset="-120"/>
              </a:rPr>
              <a:t>Secure RESTful APIs with JWT authentication</a:t>
            </a:r>
            <a:endParaRPr lang="en-US" sz="950" dirty="0"/>
          </a:p>
        </p:txBody>
      </p:sp>
      <p:sp>
        <p:nvSpPr>
          <p:cNvPr id="7" name="Text 5"/>
          <p:cNvSpPr/>
          <p:nvPr/>
        </p:nvSpPr>
        <p:spPr>
          <a:xfrm>
            <a:off x="4728046" y="2200498"/>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201B18"/>
                </a:solidFill>
                <a:latin typeface="Platypi Medium" pitchFamily="34" charset="0"/>
                <a:ea typeface="Platypi Medium" pitchFamily="34" charset="-122"/>
                <a:cs typeface="Platypi Medium" pitchFamily="34" charset="-120"/>
              </a:rPr>
              <a:t>Architecture</a:t>
            </a:r>
            <a:endParaRPr lang="en-US" sz="1200" dirty="0"/>
          </a:p>
        </p:txBody>
      </p:sp>
      <p:sp>
        <p:nvSpPr>
          <p:cNvPr id="8" name="Text 6"/>
          <p:cNvSpPr/>
          <p:nvPr/>
        </p:nvSpPr>
        <p:spPr>
          <a:xfrm>
            <a:off x="4728046" y="2518321"/>
            <a:ext cx="3924598"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504C49"/>
                </a:solidFill>
                <a:latin typeface="Source Serif 4" pitchFamily="34" charset="0"/>
                <a:ea typeface="Source Serif 4" pitchFamily="34" charset="-122"/>
                <a:cs typeface="Source Serif 4" pitchFamily="34" charset="-120"/>
              </a:rPr>
              <a:t>Full-stack design with React.js frontend, FastAPI backend, PostgreSQL database, and Scikit-learn ML engine. Scalable, secure, and extensible for future enhancements including real-time monitoring, deep learning models, and HRMS integration.</a:t>
            </a:r>
            <a:endParaRPr lang="en-US" sz="950" dirty="0"/>
          </a:p>
        </p:txBody>
      </p:sp>
      <p:sp>
        <p:nvSpPr>
          <p:cNvPr id="9" name="Text 7"/>
          <p:cNvSpPr/>
          <p:nvPr/>
        </p:nvSpPr>
        <p:spPr>
          <a:xfrm>
            <a:off x="4728046" y="3436144"/>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201B18"/>
                </a:solidFill>
                <a:latin typeface="Platypi Medium" pitchFamily="34" charset="0"/>
                <a:ea typeface="Platypi Medium" pitchFamily="34" charset="-122"/>
                <a:cs typeface="Platypi Medium" pitchFamily="34" charset="-120"/>
              </a:rPr>
              <a:t>Keywords</a:t>
            </a:r>
            <a:endParaRPr lang="en-US" sz="1200" dirty="0"/>
          </a:p>
        </p:txBody>
      </p:sp>
      <p:sp>
        <p:nvSpPr>
          <p:cNvPr id="10" name="Shape 8"/>
          <p:cNvSpPr/>
          <p:nvPr/>
        </p:nvSpPr>
        <p:spPr>
          <a:xfrm>
            <a:off x="4728046" y="3769519"/>
            <a:ext cx="1455465" cy="233214"/>
          </a:xfrm>
          <a:prstGeom prst="roundRect">
            <a:avLst>
              <a:gd name="adj" fmla="val 6383"/>
            </a:avLst>
          </a:prstGeom>
          <a:noFill/>
          <a:ln/>
          <a:effectLst>
            <a:outerShdw sx="100000" sy="100000" kx="0" ky="0" algn="bl" rotWithShape="0" blurRad="101600" dist="50800" dir="16200000">
              <a:srgbClr val="3e2513">
                <a:alpha val="100000"/>
              </a:srgbClr>
            </a:outerShdw>
          </a:effectLst>
        </p:spPr>
      </p:sp>
      <p:sp>
        <p:nvSpPr>
          <p:cNvPr id="11" name="Text 9"/>
          <p:cNvSpPr/>
          <p:nvPr/>
        </p:nvSpPr>
        <p:spPr>
          <a:xfrm>
            <a:off x="4802460" y="3806726"/>
            <a:ext cx="1763837" cy="158800"/>
          </a:xfrm>
          <a:prstGeom prst="rect">
            <a:avLst/>
          </a:prstGeom>
          <a:noFill/>
          <a:ln/>
        </p:spPr>
        <p:txBody>
          <a:bodyPr wrap="none" lIns="0" tIns="0" rIns="0" bIns="0" rtlCol="0" anchor="t"/>
          <a:lstStyle/>
          <a:p>
            <a:pPr algn="l" indent="0" marL="0">
              <a:lnSpc>
                <a:spcPct val="133000"/>
              </a:lnSpc>
              <a:buNone/>
            </a:pPr>
            <a:r>
              <a:rPr lang="en-US" sz="750" dirty="0">
                <a:solidFill>
                  <a:srgbClr val="3E2513"/>
                </a:solidFill>
                <a:latin typeface="Source Serif 4" pitchFamily="34" charset="0"/>
                <a:ea typeface="Source Serif 4" pitchFamily="34" charset="-122"/>
                <a:cs typeface="Source Serif 4" pitchFamily="34" charset="-120"/>
              </a:rPr>
              <a:t>EMPLOYEE PRODUCTIVITY</a:t>
            </a:r>
            <a:endParaRPr lang="en-US" sz="750" dirty="0"/>
          </a:p>
        </p:txBody>
      </p:sp>
      <p:sp>
        <p:nvSpPr>
          <p:cNvPr id="12" name="Shape 10"/>
          <p:cNvSpPr/>
          <p:nvPr/>
        </p:nvSpPr>
        <p:spPr>
          <a:xfrm>
            <a:off x="6245498" y="3769519"/>
            <a:ext cx="1265486" cy="233214"/>
          </a:xfrm>
          <a:prstGeom prst="roundRect">
            <a:avLst>
              <a:gd name="adj" fmla="val 6383"/>
            </a:avLst>
          </a:prstGeom>
          <a:noFill/>
          <a:ln/>
          <a:effectLst>
            <a:outerShdw sx="100000" sy="100000" kx="0" ky="0" algn="bl" rotWithShape="0" blurRad="101600" dist="50800" dir="16200000">
              <a:srgbClr val="3e2513">
                <a:alpha val="100000"/>
              </a:srgbClr>
            </a:outerShdw>
          </a:effectLst>
        </p:spPr>
      </p:sp>
      <p:sp>
        <p:nvSpPr>
          <p:cNvPr id="13" name="Text 11"/>
          <p:cNvSpPr/>
          <p:nvPr/>
        </p:nvSpPr>
        <p:spPr>
          <a:xfrm>
            <a:off x="6319912" y="3806726"/>
            <a:ext cx="1573857" cy="158800"/>
          </a:xfrm>
          <a:prstGeom prst="rect">
            <a:avLst/>
          </a:prstGeom>
          <a:noFill/>
          <a:ln/>
        </p:spPr>
        <p:txBody>
          <a:bodyPr wrap="none" lIns="0" tIns="0" rIns="0" bIns="0" rtlCol="0" anchor="t"/>
          <a:lstStyle/>
          <a:p>
            <a:pPr algn="l" indent="0" marL="0">
              <a:lnSpc>
                <a:spcPct val="133000"/>
              </a:lnSpc>
              <a:buNone/>
            </a:pPr>
            <a:r>
              <a:rPr lang="en-US" sz="750" dirty="0">
                <a:solidFill>
                  <a:srgbClr val="3E2513"/>
                </a:solidFill>
                <a:latin typeface="Source Serif 4" pitchFamily="34" charset="0"/>
                <a:ea typeface="Source Serif 4" pitchFamily="34" charset="-122"/>
                <a:cs typeface="Source Serif 4" pitchFamily="34" charset="-120"/>
              </a:rPr>
              <a:t>BURNOUT PREDICTION</a:t>
            </a:r>
            <a:endParaRPr lang="en-US" sz="750" dirty="0"/>
          </a:p>
        </p:txBody>
      </p:sp>
      <p:sp>
        <p:nvSpPr>
          <p:cNvPr id="14" name="Shape 12"/>
          <p:cNvSpPr/>
          <p:nvPr/>
        </p:nvSpPr>
        <p:spPr>
          <a:xfrm>
            <a:off x="4728046" y="4064719"/>
            <a:ext cx="1173212" cy="233214"/>
          </a:xfrm>
          <a:prstGeom prst="roundRect">
            <a:avLst>
              <a:gd name="adj" fmla="val 6383"/>
            </a:avLst>
          </a:prstGeom>
          <a:noFill/>
          <a:ln/>
          <a:effectLst>
            <a:outerShdw sx="100000" sy="100000" kx="0" ky="0" algn="bl" rotWithShape="0" blurRad="101600" dist="50800" dir="16200000">
              <a:srgbClr val="3e2513">
                <a:alpha val="100000"/>
              </a:srgbClr>
            </a:outerShdw>
          </a:effectLst>
        </p:spPr>
      </p:sp>
      <p:sp>
        <p:nvSpPr>
          <p:cNvPr id="15" name="Text 13"/>
          <p:cNvSpPr/>
          <p:nvPr/>
        </p:nvSpPr>
        <p:spPr>
          <a:xfrm>
            <a:off x="4802460" y="4101926"/>
            <a:ext cx="1481584" cy="158800"/>
          </a:xfrm>
          <a:prstGeom prst="rect">
            <a:avLst/>
          </a:prstGeom>
          <a:noFill/>
          <a:ln/>
        </p:spPr>
        <p:txBody>
          <a:bodyPr wrap="none" lIns="0" tIns="0" rIns="0" bIns="0" rtlCol="0" anchor="t"/>
          <a:lstStyle/>
          <a:p>
            <a:pPr algn="l" indent="0" marL="0">
              <a:lnSpc>
                <a:spcPct val="133000"/>
              </a:lnSpc>
              <a:buNone/>
            </a:pPr>
            <a:r>
              <a:rPr lang="en-US" sz="750" dirty="0">
                <a:solidFill>
                  <a:srgbClr val="3E2513"/>
                </a:solidFill>
                <a:latin typeface="Source Serif 4" pitchFamily="34" charset="0"/>
                <a:ea typeface="Source Serif 4" pitchFamily="34" charset="-122"/>
                <a:cs typeface="Source Serif 4" pitchFamily="34" charset="-120"/>
              </a:rPr>
              <a:t>MACHINE LEARNING</a:t>
            </a:r>
            <a:endParaRPr lang="en-US" sz="750" dirty="0"/>
          </a:p>
        </p:txBody>
      </p:sp>
      <p:sp>
        <p:nvSpPr>
          <p:cNvPr id="16" name="Shape 14"/>
          <p:cNvSpPr/>
          <p:nvPr/>
        </p:nvSpPr>
        <p:spPr>
          <a:xfrm>
            <a:off x="5963245" y="4064719"/>
            <a:ext cx="866254" cy="233214"/>
          </a:xfrm>
          <a:prstGeom prst="roundRect">
            <a:avLst>
              <a:gd name="adj" fmla="val 6383"/>
            </a:avLst>
          </a:prstGeom>
          <a:noFill/>
          <a:ln/>
          <a:effectLst>
            <a:outerShdw sx="100000" sy="100000" kx="0" ky="0" algn="bl" rotWithShape="0" blurRad="101600" dist="50800" dir="16200000">
              <a:srgbClr val="3e2513">
                <a:alpha val="100000"/>
              </a:srgbClr>
            </a:outerShdw>
          </a:effectLst>
        </p:spPr>
      </p:sp>
      <p:sp>
        <p:nvSpPr>
          <p:cNvPr id="17" name="Text 15"/>
          <p:cNvSpPr/>
          <p:nvPr/>
        </p:nvSpPr>
        <p:spPr>
          <a:xfrm>
            <a:off x="6037659" y="4101926"/>
            <a:ext cx="1174626" cy="158800"/>
          </a:xfrm>
          <a:prstGeom prst="rect">
            <a:avLst/>
          </a:prstGeom>
          <a:noFill/>
          <a:ln/>
        </p:spPr>
        <p:txBody>
          <a:bodyPr wrap="none" lIns="0" tIns="0" rIns="0" bIns="0" rtlCol="0" anchor="t"/>
          <a:lstStyle/>
          <a:p>
            <a:pPr algn="l" indent="0" marL="0">
              <a:lnSpc>
                <a:spcPct val="133000"/>
              </a:lnSpc>
              <a:buNone/>
            </a:pPr>
            <a:r>
              <a:rPr lang="en-US" sz="750" dirty="0">
                <a:solidFill>
                  <a:srgbClr val="3E2513"/>
                </a:solidFill>
                <a:latin typeface="Source Serif 4" pitchFamily="34" charset="0"/>
                <a:ea typeface="Source Serif 4" pitchFamily="34" charset="-122"/>
                <a:cs typeface="Source Serif 4" pitchFamily="34" charset="-120"/>
              </a:rPr>
              <a:t>HR ANALYTICS</a:t>
            </a:r>
            <a:endParaRPr lang="en-US" sz="750" dirty="0"/>
          </a:p>
        </p:txBody>
      </p:sp>
      <p:sp>
        <p:nvSpPr>
          <p:cNvPr id="18" name="Shape 16"/>
          <p:cNvSpPr/>
          <p:nvPr/>
        </p:nvSpPr>
        <p:spPr>
          <a:xfrm>
            <a:off x="6891486" y="4064719"/>
            <a:ext cx="1314376" cy="233214"/>
          </a:xfrm>
          <a:prstGeom prst="roundRect">
            <a:avLst>
              <a:gd name="adj" fmla="val 6383"/>
            </a:avLst>
          </a:prstGeom>
          <a:noFill/>
          <a:ln/>
          <a:effectLst>
            <a:outerShdw sx="100000" sy="100000" kx="0" ky="0" algn="bl" rotWithShape="0" blurRad="101600" dist="50800" dir="16200000">
              <a:srgbClr val="3e2513">
                <a:alpha val="100000"/>
              </a:srgbClr>
            </a:outerShdw>
          </a:effectLst>
        </p:spPr>
      </p:sp>
      <p:sp>
        <p:nvSpPr>
          <p:cNvPr id="19" name="Text 17"/>
          <p:cNvSpPr/>
          <p:nvPr/>
        </p:nvSpPr>
        <p:spPr>
          <a:xfrm>
            <a:off x="6965900" y="4101926"/>
            <a:ext cx="1622747" cy="158800"/>
          </a:xfrm>
          <a:prstGeom prst="rect">
            <a:avLst/>
          </a:prstGeom>
          <a:noFill/>
          <a:ln/>
        </p:spPr>
        <p:txBody>
          <a:bodyPr wrap="none" lIns="0" tIns="0" rIns="0" bIns="0" rtlCol="0" anchor="t"/>
          <a:lstStyle/>
          <a:p>
            <a:pPr algn="l" indent="0" marL="0">
              <a:lnSpc>
                <a:spcPct val="133000"/>
              </a:lnSpc>
              <a:buNone/>
            </a:pPr>
            <a:r>
              <a:rPr lang="en-US" sz="750" dirty="0">
                <a:solidFill>
                  <a:srgbClr val="3E2513"/>
                </a:solidFill>
                <a:latin typeface="Source Serif 4" pitchFamily="34" charset="0"/>
                <a:ea typeface="Source Serif 4" pitchFamily="34" charset="-122"/>
                <a:cs typeface="Source Serif 4" pitchFamily="34" charset="-120"/>
              </a:rPr>
              <a:t>PREDICTIVE ANALYTICS</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371624"/>
            <a:ext cx="3396481" cy="320948"/>
          </a:xfrm>
          <a:prstGeom prst="rect">
            <a:avLst/>
          </a:prstGeom>
          <a:noFill/>
          <a:ln/>
        </p:spPr>
        <p:txBody>
          <a:bodyPr wrap="none" lIns="0" tIns="0" rIns="0" bIns="0" rtlCol="0" anchor="t"/>
          <a:lstStyle/>
          <a:p>
            <a:pPr algn="l" indent="0" marL="0">
              <a:lnSpc>
                <a:spcPct val="104000"/>
              </a:lnSpc>
              <a:buNone/>
            </a:pPr>
            <a:r>
              <a:rPr lang="en-US" sz="2000" dirty="0">
                <a:solidFill>
                  <a:srgbClr val="201B18"/>
                </a:solidFill>
                <a:latin typeface="Platypi Medium" pitchFamily="34" charset="0"/>
                <a:ea typeface="Platypi Medium" pitchFamily="34" charset="-122"/>
                <a:cs typeface="Platypi Medium" pitchFamily="34" charset="-120"/>
              </a:rPr>
              <a:t>Chapter 1: Introduction</a:t>
            </a:r>
            <a:endParaRPr lang="en-US" sz="20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862682"/>
            <a:ext cx="4033317" cy="1196280"/>
          </a:xfrm>
          <a:prstGeom prst="rect">
            <a:avLst/>
          </a:prstGeom>
        </p:spPr>
      </p:pic>
      <p:sp>
        <p:nvSpPr>
          <p:cNvPr id="4" name="Text 1"/>
          <p:cNvSpPr/>
          <p:nvPr/>
        </p:nvSpPr>
        <p:spPr>
          <a:xfrm>
            <a:off x="670247" y="979661"/>
            <a:ext cx="1284015" cy="160511"/>
          </a:xfrm>
          <a:prstGeom prst="rect">
            <a:avLst/>
          </a:prstGeom>
          <a:noFill/>
          <a:ln/>
        </p:spPr>
        <p:txBody>
          <a:bodyPr wrap="none" lIns="0" tIns="0" rIns="0" bIns="0" rtlCol="0" anchor="t"/>
          <a:lstStyle/>
          <a:p>
            <a:pPr algn="l" indent="0" marL="0">
              <a:lnSpc>
                <a:spcPct val="104000"/>
              </a:lnSpc>
              <a:buNone/>
            </a:pPr>
            <a:r>
              <a:rPr lang="en-US" sz="1000" dirty="0">
                <a:solidFill>
                  <a:srgbClr val="504C49"/>
                </a:solidFill>
                <a:latin typeface="Platypi Medium" pitchFamily="34" charset="0"/>
                <a:ea typeface="Platypi Medium" pitchFamily="34" charset="-122"/>
                <a:cs typeface="Platypi Medium" pitchFamily="34" charset="-120"/>
              </a:rPr>
              <a:t>Background</a:t>
            </a:r>
            <a:endParaRPr lang="en-US" sz="1000" dirty="0"/>
          </a:p>
        </p:txBody>
      </p:sp>
      <p:sp>
        <p:nvSpPr>
          <p:cNvPr id="5" name="Text 2"/>
          <p:cNvSpPr/>
          <p:nvPr/>
        </p:nvSpPr>
        <p:spPr>
          <a:xfrm>
            <a:off x="670247" y="1191146"/>
            <a:ext cx="3742209" cy="600670"/>
          </a:xfrm>
          <a:prstGeom prst="rect">
            <a:avLst/>
          </a:prstGeom>
          <a:noFill/>
          <a:ln/>
        </p:spPr>
        <p:txBody>
          <a:bodyPr wrap="square" lIns="0" tIns="0" rIns="0" bIns="0" rtlCol="0" anchor="t">
            <a:normAutofit/>
          </a:bodyPr>
          <a:lstStyle/>
          <a:p>
            <a:pPr algn="l" indent="0" marL="0">
              <a:lnSpc>
                <a:spcPct val="122000"/>
              </a:lnSpc>
              <a:buNone/>
            </a:pPr>
            <a:r>
              <a:rPr lang="en-US" sz="800" dirty="0">
                <a:solidFill>
                  <a:srgbClr val="504C49"/>
                </a:solidFill>
                <a:latin typeface="Source Serif 4" pitchFamily="34" charset="0"/>
                <a:ea typeface="Source Serif 4" pitchFamily="34" charset="-122"/>
                <a:cs typeface="Source Serif 4" pitchFamily="34" charset="-120"/>
              </a:rPr>
              <a:t>Organizations rely on data-driven approaches to optimize workforce well-being. Burnout reduces productivity, increases absenteeism, and drives turnover. AI and ML enable analysis of historical employee data to identify hidden burnout risk patterns.</a:t>
            </a:r>
            <a:endParaRPr lang="en-US" sz="8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14490" y="862682"/>
            <a:ext cx="4033391" cy="1196280"/>
          </a:xfrm>
          <a:prstGeom prst="rect">
            <a:avLst/>
          </a:prstGeom>
        </p:spPr>
      </p:pic>
      <p:sp>
        <p:nvSpPr>
          <p:cNvPr id="7" name="Text 3"/>
          <p:cNvSpPr/>
          <p:nvPr/>
        </p:nvSpPr>
        <p:spPr>
          <a:xfrm>
            <a:off x="4788619" y="979661"/>
            <a:ext cx="1284015" cy="160511"/>
          </a:xfrm>
          <a:prstGeom prst="rect">
            <a:avLst/>
          </a:prstGeom>
          <a:noFill/>
          <a:ln/>
        </p:spPr>
        <p:txBody>
          <a:bodyPr wrap="none" lIns="0" tIns="0" rIns="0" bIns="0" rtlCol="0" anchor="t"/>
          <a:lstStyle/>
          <a:p>
            <a:pPr algn="l" indent="0" marL="0">
              <a:lnSpc>
                <a:spcPct val="104000"/>
              </a:lnSpc>
              <a:buNone/>
            </a:pPr>
            <a:r>
              <a:rPr lang="en-US" sz="1000" dirty="0">
                <a:solidFill>
                  <a:srgbClr val="504C49"/>
                </a:solidFill>
                <a:latin typeface="Platypi Medium" pitchFamily="34" charset="0"/>
                <a:ea typeface="Platypi Medium" pitchFamily="34" charset="-122"/>
                <a:cs typeface="Platypi Medium" pitchFamily="34" charset="-120"/>
              </a:rPr>
              <a:t>Problem Statement</a:t>
            </a:r>
            <a:endParaRPr lang="en-US" sz="1000" dirty="0"/>
          </a:p>
        </p:txBody>
      </p:sp>
      <p:sp>
        <p:nvSpPr>
          <p:cNvPr id="8" name="Text 4"/>
          <p:cNvSpPr/>
          <p:nvPr/>
        </p:nvSpPr>
        <p:spPr>
          <a:xfrm>
            <a:off x="4788619" y="1191146"/>
            <a:ext cx="3742283" cy="750838"/>
          </a:xfrm>
          <a:prstGeom prst="rect">
            <a:avLst/>
          </a:prstGeom>
          <a:noFill/>
          <a:ln/>
        </p:spPr>
        <p:txBody>
          <a:bodyPr wrap="square" lIns="0" tIns="0" rIns="0" bIns="0" rtlCol="0" anchor="t">
            <a:normAutofit/>
          </a:bodyPr>
          <a:lstStyle/>
          <a:p>
            <a:pPr algn="l" indent="0" marL="0">
              <a:lnSpc>
                <a:spcPct val="122000"/>
              </a:lnSpc>
              <a:buNone/>
            </a:pPr>
            <a:r>
              <a:rPr lang="en-US" sz="800" dirty="0">
                <a:solidFill>
                  <a:srgbClr val="504C49"/>
                </a:solidFill>
                <a:latin typeface="Source Serif 4" pitchFamily="34" charset="0"/>
                <a:ea typeface="Source Serif 4" pitchFamily="34" charset="-122"/>
                <a:cs typeface="Source Serif 4" pitchFamily="34" charset="-120"/>
              </a:rPr>
              <a:t>Organizations rely on periodic reviews and manual observation to evaluate productivity and identify burnout — approaches that are subjective, time-consuming, and unable to detect early warning signs. The absence of predictive capabilities makes timely preventive action difficult, resulting in decreased productivity and increased attrition.</a:t>
            </a:r>
            <a:endParaRPr lang="en-US" sz="8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2144018"/>
            <a:ext cx="4033317" cy="1196280"/>
          </a:xfrm>
          <a:prstGeom prst="rect">
            <a:avLst/>
          </a:prstGeom>
        </p:spPr>
      </p:pic>
      <p:sp>
        <p:nvSpPr>
          <p:cNvPr id="10" name="Text 5"/>
          <p:cNvSpPr/>
          <p:nvPr/>
        </p:nvSpPr>
        <p:spPr>
          <a:xfrm>
            <a:off x="670247" y="2260997"/>
            <a:ext cx="1284015" cy="160511"/>
          </a:xfrm>
          <a:prstGeom prst="rect">
            <a:avLst/>
          </a:prstGeom>
          <a:noFill/>
          <a:ln/>
        </p:spPr>
        <p:txBody>
          <a:bodyPr wrap="none" lIns="0" tIns="0" rIns="0" bIns="0" rtlCol="0" anchor="t"/>
          <a:lstStyle/>
          <a:p>
            <a:pPr algn="l" indent="0" marL="0">
              <a:lnSpc>
                <a:spcPct val="104000"/>
              </a:lnSpc>
              <a:buNone/>
            </a:pPr>
            <a:r>
              <a:rPr lang="en-US" sz="1000" dirty="0">
                <a:solidFill>
                  <a:srgbClr val="504C49"/>
                </a:solidFill>
                <a:latin typeface="Platypi Medium" pitchFamily="34" charset="0"/>
                <a:ea typeface="Platypi Medium" pitchFamily="34" charset="-122"/>
                <a:cs typeface="Platypi Medium" pitchFamily="34" charset="-120"/>
              </a:rPr>
              <a:t>Objectives</a:t>
            </a:r>
            <a:endParaRPr lang="en-US" sz="1000" dirty="0"/>
          </a:p>
        </p:txBody>
      </p:sp>
      <p:sp>
        <p:nvSpPr>
          <p:cNvPr id="11" name="Text 6"/>
          <p:cNvSpPr/>
          <p:nvPr/>
        </p:nvSpPr>
        <p:spPr>
          <a:xfrm>
            <a:off x="670247" y="2472482"/>
            <a:ext cx="3742209" cy="689967"/>
          </a:xfrm>
          <a:prstGeom prst="rect">
            <a:avLst/>
          </a:prstGeom>
          <a:noFill/>
          <a:ln/>
        </p:spPr>
        <p:txBody>
          <a:bodyPr wrap="square" lIns="0" tIns="0" rIns="0" bIns="0" rtlCol="0" anchor="t">
            <a:normAutofit/>
          </a:bodyPr>
          <a:lstStyle/>
          <a:p>
            <a:pPr algn="l" marL="162560" indent="-162560">
              <a:lnSpc>
                <a:spcPct val="122000"/>
              </a:lnSpc>
              <a:buSzPct val="100000"/>
              <a:buChar char="•"/>
            </a:pPr>
            <a:r>
              <a:rPr lang="en-US" sz="800" dirty="0">
                <a:solidFill>
                  <a:srgbClr val="504C49"/>
                </a:solidFill>
                <a:latin typeface="Source Serif 4" pitchFamily="34" charset="0"/>
                <a:ea typeface="Source Serif 4" pitchFamily="34" charset="-122"/>
                <a:cs typeface="Source Serif 4" pitchFamily="34" charset="-120"/>
              </a:rPr>
              <a:t>Develop a secure employee management application with RBAC</a:t>
            </a:r>
            <a:endParaRPr lang="en-US" sz="800" dirty="0"/>
          </a:p>
          <a:p>
            <a:pPr algn="l" marL="162560" indent="-162560">
              <a:lnSpc>
                <a:spcPct val="122000"/>
              </a:lnSpc>
              <a:buSzPct val="100000"/>
              <a:buChar char="•"/>
            </a:pPr>
            <a:r>
              <a:rPr lang="en-US" sz="800" dirty="0">
                <a:solidFill>
                  <a:srgbClr val="504C49"/>
                </a:solidFill>
                <a:latin typeface="Source Serif 4" pitchFamily="34" charset="0"/>
                <a:ea typeface="Source Serif 4" pitchFamily="34" charset="-122"/>
                <a:cs typeface="Source Serif 4" pitchFamily="34" charset="-120"/>
              </a:rPr>
              <a:t>Predict burnout using Machine Learning</a:t>
            </a:r>
            <a:endParaRPr lang="en-US" sz="800" dirty="0"/>
          </a:p>
          <a:p>
            <a:pPr algn="l" marL="162560" indent="-162560">
              <a:lnSpc>
                <a:spcPct val="122000"/>
              </a:lnSpc>
              <a:buSzPct val="100000"/>
              <a:buChar char="•"/>
            </a:pPr>
            <a:r>
              <a:rPr lang="en-US" sz="800" dirty="0">
                <a:solidFill>
                  <a:srgbClr val="504C49"/>
                </a:solidFill>
                <a:latin typeface="Source Serif 4" pitchFamily="34" charset="0"/>
                <a:ea typeface="Source Serif 4" pitchFamily="34" charset="-122"/>
                <a:cs typeface="Source Serif 4" pitchFamily="34" charset="-120"/>
              </a:rPr>
              <a:t>Provide productivity analytics dashboards and HR reports</a:t>
            </a:r>
            <a:endParaRPr lang="en-US" sz="800" dirty="0"/>
          </a:p>
          <a:p>
            <a:pPr algn="l" marL="162560" indent="-162560">
              <a:lnSpc>
                <a:spcPct val="122000"/>
              </a:lnSpc>
              <a:buSzPct val="100000"/>
              <a:buChar char="•"/>
            </a:pPr>
            <a:r>
              <a:rPr lang="en-US" sz="800" dirty="0">
                <a:solidFill>
                  <a:srgbClr val="504C49"/>
                </a:solidFill>
                <a:latin typeface="Source Serif 4" pitchFamily="34" charset="0"/>
                <a:ea typeface="Source Serif 4" pitchFamily="34" charset="-122"/>
                <a:cs typeface="Source Serif 4" pitchFamily="34" charset="-120"/>
              </a:rPr>
              <a:t>Improve organizational decision-making</a:t>
            </a:r>
            <a:endParaRPr lang="en-US" sz="80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14490" y="2144018"/>
            <a:ext cx="4033391" cy="1196280"/>
          </a:xfrm>
          <a:prstGeom prst="rect">
            <a:avLst/>
          </a:prstGeom>
        </p:spPr>
      </p:pic>
      <p:sp>
        <p:nvSpPr>
          <p:cNvPr id="13" name="Text 7"/>
          <p:cNvSpPr/>
          <p:nvPr/>
        </p:nvSpPr>
        <p:spPr>
          <a:xfrm>
            <a:off x="4788619" y="2260997"/>
            <a:ext cx="1284015" cy="160511"/>
          </a:xfrm>
          <a:prstGeom prst="rect">
            <a:avLst/>
          </a:prstGeom>
          <a:noFill/>
          <a:ln/>
        </p:spPr>
        <p:txBody>
          <a:bodyPr wrap="none" lIns="0" tIns="0" rIns="0" bIns="0" rtlCol="0" anchor="t"/>
          <a:lstStyle/>
          <a:p>
            <a:pPr algn="l" indent="0" marL="0">
              <a:lnSpc>
                <a:spcPct val="104000"/>
              </a:lnSpc>
              <a:buNone/>
            </a:pPr>
            <a:r>
              <a:rPr lang="en-US" sz="1000" dirty="0">
                <a:solidFill>
                  <a:srgbClr val="504C49"/>
                </a:solidFill>
                <a:latin typeface="Platypi Medium" pitchFamily="34" charset="0"/>
                <a:ea typeface="Platypi Medium" pitchFamily="34" charset="-122"/>
                <a:cs typeface="Platypi Medium" pitchFamily="34" charset="-120"/>
              </a:rPr>
              <a:t>Scope</a:t>
            </a:r>
            <a:endParaRPr lang="en-US" sz="1000" dirty="0"/>
          </a:p>
        </p:txBody>
      </p:sp>
      <p:sp>
        <p:nvSpPr>
          <p:cNvPr id="14" name="Text 8"/>
          <p:cNvSpPr/>
          <p:nvPr/>
        </p:nvSpPr>
        <p:spPr>
          <a:xfrm>
            <a:off x="4788619" y="2472482"/>
            <a:ext cx="3742283" cy="750838"/>
          </a:xfrm>
          <a:prstGeom prst="rect">
            <a:avLst/>
          </a:prstGeom>
          <a:noFill/>
          <a:ln/>
        </p:spPr>
        <p:txBody>
          <a:bodyPr wrap="square" lIns="0" tIns="0" rIns="0" bIns="0" rtlCol="0" anchor="t">
            <a:normAutofit/>
          </a:bodyPr>
          <a:lstStyle/>
          <a:p>
            <a:pPr algn="l" indent="0" marL="0">
              <a:lnSpc>
                <a:spcPct val="122000"/>
              </a:lnSpc>
              <a:buNone/>
            </a:pPr>
            <a:r>
              <a:rPr lang="en-US" sz="800" dirty="0">
                <a:solidFill>
                  <a:srgbClr val="504C49"/>
                </a:solidFill>
                <a:latin typeface="Source Serif 4" pitchFamily="34" charset="0"/>
                <a:ea typeface="Source Serif 4" pitchFamily="34" charset="-122"/>
                <a:cs typeface="Source Serif 4" pitchFamily="34" charset="-120"/>
              </a:rPr>
              <a:t>Intended for organizations of all sizes. Covers employee management, department management, attendance monitoring, performance analysis, burnout prediction, dashboard and reporting, secure authentication, REST APIs, and database management. Future versions may include mobile support, cloud deployment, and advanced AI models.</a:t>
            </a:r>
            <a:endParaRPr lang="en-US" sz="80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96119" y="3425354"/>
            <a:ext cx="4033317" cy="1346448"/>
          </a:xfrm>
          <a:prstGeom prst="rect">
            <a:avLst/>
          </a:prstGeom>
        </p:spPr>
      </p:pic>
      <p:sp>
        <p:nvSpPr>
          <p:cNvPr id="16" name="Text 9"/>
          <p:cNvSpPr/>
          <p:nvPr/>
        </p:nvSpPr>
        <p:spPr>
          <a:xfrm>
            <a:off x="670247" y="3542333"/>
            <a:ext cx="1849487" cy="160511"/>
          </a:xfrm>
          <a:prstGeom prst="rect">
            <a:avLst/>
          </a:prstGeom>
          <a:noFill/>
          <a:ln/>
        </p:spPr>
        <p:txBody>
          <a:bodyPr wrap="none" lIns="0" tIns="0" rIns="0" bIns="0" rtlCol="0" anchor="t"/>
          <a:lstStyle/>
          <a:p>
            <a:pPr algn="l" indent="0" marL="0">
              <a:lnSpc>
                <a:spcPct val="104000"/>
              </a:lnSpc>
              <a:buNone/>
            </a:pPr>
            <a:r>
              <a:rPr lang="en-US" sz="1000" dirty="0">
                <a:solidFill>
                  <a:srgbClr val="504C49"/>
                </a:solidFill>
                <a:latin typeface="Platypi Medium" pitchFamily="34" charset="0"/>
                <a:ea typeface="Platypi Medium" pitchFamily="34" charset="-122"/>
                <a:cs typeface="Platypi Medium" pitchFamily="34" charset="-120"/>
              </a:rPr>
              <a:t>Existing vs. Proposed System</a:t>
            </a:r>
            <a:endParaRPr lang="en-US" sz="1000" dirty="0"/>
          </a:p>
        </p:txBody>
      </p:sp>
      <p:sp>
        <p:nvSpPr>
          <p:cNvPr id="17" name="Text 10"/>
          <p:cNvSpPr/>
          <p:nvPr/>
        </p:nvSpPr>
        <p:spPr>
          <a:xfrm>
            <a:off x="670247" y="3753817"/>
            <a:ext cx="3742209" cy="750838"/>
          </a:xfrm>
          <a:prstGeom prst="rect">
            <a:avLst/>
          </a:prstGeom>
          <a:noFill/>
          <a:ln/>
        </p:spPr>
        <p:txBody>
          <a:bodyPr wrap="square" lIns="0" tIns="0" rIns="0" bIns="0" rtlCol="0" anchor="t">
            <a:normAutofit/>
          </a:bodyPr>
          <a:lstStyle/>
          <a:p>
            <a:pPr algn="l" indent="0" marL="0">
              <a:lnSpc>
                <a:spcPct val="122000"/>
              </a:lnSpc>
              <a:buNone/>
            </a:pPr>
            <a:r>
              <a:rPr lang="en-US" sz="800" dirty="0">
                <a:solidFill>
                  <a:srgbClr val="504C49"/>
                </a:solidFill>
                <a:latin typeface="Source Serif 4" pitchFamily="34" charset="0"/>
                <a:ea typeface="Source Serif 4" pitchFamily="34" charset="-122"/>
                <a:cs typeface="Source Serif 4" pitchFamily="34" charset="-120"/>
              </a:rPr>
              <a:t>Traditional systems provide records, attendance, payroll, and basic reporting but lack predictive analytics, AI recommendations, and early burnout detection. The proposed system enhances HR management with ML-based burnout prediction, productivity analysis, administrative dashboards, and RESTful APIs.</a:t>
            </a:r>
            <a:endParaRPr lang="en-US" sz="800" dirty="0"/>
          </a:p>
        </p:txBody>
      </p:sp>
      <p:pic>
        <p:nvPicPr>
          <p:cNvPr id="1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614490" y="3425354"/>
            <a:ext cx="4033391" cy="1346448"/>
          </a:xfrm>
          <a:prstGeom prst="rect">
            <a:avLst/>
          </a:prstGeom>
        </p:spPr>
      </p:pic>
      <p:sp>
        <p:nvSpPr>
          <p:cNvPr id="19" name="Text 11"/>
          <p:cNvSpPr/>
          <p:nvPr/>
        </p:nvSpPr>
        <p:spPr>
          <a:xfrm>
            <a:off x="4788619" y="3542333"/>
            <a:ext cx="1646858" cy="160511"/>
          </a:xfrm>
          <a:prstGeom prst="rect">
            <a:avLst/>
          </a:prstGeom>
          <a:noFill/>
          <a:ln/>
        </p:spPr>
        <p:txBody>
          <a:bodyPr wrap="none" lIns="0" tIns="0" rIns="0" bIns="0" rtlCol="0" anchor="t"/>
          <a:lstStyle/>
          <a:p>
            <a:pPr algn="l" indent="0" marL="0">
              <a:lnSpc>
                <a:spcPct val="104000"/>
              </a:lnSpc>
              <a:buNone/>
            </a:pPr>
            <a:r>
              <a:rPr lang="en-US" sz="1000" dirty="0">
                <a:solidFill>
                  <a:srgbClr val="504C49"/>
                </a:solidFill>
                <a:latin typeface="Platypi Medium" pitchFamily="34" charset="0"/>
                <a:ea typeface="Platypi Medium" pitchFamily="34" charset="-122"/>
                <a:cs typeface="Platypi Medium" pitchFamily="34" charset="-120"/>
              </a:rPr>
              <a:t>Advantages &amp; Limitations</a:t>
            </a:r>
            <a:endParaRPr lang="en-US" sz="1000" dirty="0"/>
          </a:p>
        </p:txBody>
      </p:sp>
      <p:sp>
        <p:nvSpPr>
          <p:cNvPr id="20" name="Text 12"/>
          <p:cNvSpPr/>
          <p:nvPr/>
        </p:nvSpPr>
        <p:spPr>
          <a:xfrm>
            <a:off x="4788619" y="3753817"/>
            <a:ext cx="3742283" cy="901005"/>
          </a:xfrm>
          <a:prstGeom prst="rect">
            <a:avLst/>
          </a:prstGeom>
          <a:noFill/>
          <a:ln/>
        </p:spPr>
        <p:txBody>
          <a:bodyPr wrap="square" lIns="0" tIns="0" rIns="0" bIns="0" rtlCol="0" anchor="t">
            <a:normAutofit/>
          </a:bodyPr>
          <a:lstStyle/>
          <a:p>
            <a:pPr algn="l" indent="0" marL="0">
              <a:lnSpc>
                <a:spcPct val="122000"/>
              </a:lnSpc>
              <a:buNone/>
            </a:pPr>
            <a:r>
              <a:rPr lang="en-US" sz="800" b="1" dirty="0">
                <a:solidFill>
                  <a:srgbClr val="504C49"/>
                </a:solidFill>
                <a:latin typeface="Source Serif 4 Bold" pitchFamily="34" charset="0"/>
                <a:ea typeface="Source Serif 4 Bold" pitchFamily="34" charset="-122"/>
                <a:cs typeface="Source Serif 4 Bold" pitchFamily="34" charset="-120"/>
              </a:rPr>
              <a:t>Advantages:</a:t>
            </a:r>
            <a:pPr algn="l" indent="0" marL="0">
              <a:lnSpc>
                <a:spcPct val="122000"/>
              </a:lnSpc>
              <a:buNone/>
            </a:pPr>
            <a:r>
              <a:rPr lang="en-US" sz="800" dirty="0">
                <a:solidFill>
                  <a:srgbClr val="504C49"/>
                </a:solidFill>
                <a:latin typeface="Source Serif 4" pitchFamily="34" charset="0"/>
                <a:ea typeface="Source Serif 4" pitchFamily="34" charset="-122"/>
                <a:cs typeface="Source Serif 4" pitchFamily="34" charset="-120"/>
              </a:rPr>
              <a:t> Intelligent decision support, early burnout detection, improved productivity, secure RBAC, scalable architecture, data-driven management, better employee satisfaction, reduced manual effort.</a:t>
            </a:r>
            <a:endParaRPr lang="en-US" sz="800" dirty="0"/>
          </a:p>
          <a:p>
            <a:pPr algn="l" indent="0" marL="0">
              <a:lnSpc>
                <a:spcPct val="122000"/>
              </a:lnSpc>
              <a:buNone/>
            </a:pPr>
            <a:r>
              <a:rPr lang="en-US" sz="800" b="1" dirty="0">
                <a:solidFill>
                  <a:srgbClr val="504C49"/>
                </a:solidFill>
                <a:latin typeface="Source Serif 4 Bold" pitchFamily="34" charset="0"/>
                <a:ea typeface="Source Serif 4 Bold" pitchFamily="34" charset="-122"/>
                <a:cs typeface="Source Serif 4 Bold" pitchFamily="34" charset="-120"/>
              </a:rPr>
              <a:t>Limitations:</a:t>
            </a:r>
            <a:pPr algn="l" indent="0" marL="0">
              <a:lnSpc>
                <a:spcPct val="122000"/>
              </a:lnSpc>
              <a:buNone/>
            </a:pPr>
            <a:r>
              <a:rPr lang="en-US" sz="800" dirty="0">
                <a:solidFill>
                  <a:srgbClr val="504C49"/>
                </a:solidFill>
                <a:latin typeface="Source Serif 4" pitchFamily="34" charset="0"/>
                <a:ea typeface="Source Serif 4" pitchFamily="34" charset="-122"/>
                <a:cs typeface="Source Serif 4" pitchFamily="34" charset="-120"/>
              </a:rPr>
              <a:t> Prediction accuracy depends on training data quality; requires periodic ML retraining; no current external HRMS integration; limited to available employee attributes.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401017"/>
            <a:ext cx="4359622" cy="302865"/>
          </a:xfrm>
          <a:prstGeom prst="rect">
            <a:avLst/>
          </a:prstGeom>
          <a:noFill/>
          <a:ln/>
        </p:spPr>
        <p:txBody>
          <a:bodyPr wrap="none" lIns="0" tIns="0" rIns="0" bIns="0" rtlCol="0" anchor="t"/>
          <a:lstStyle/>
          <a:p>
            <a:pPr algn="l" indent="0" marL="0">
              <a:lnSpc>
                <a:spcPct val="104000"/>
              </a:lnSpc>
              <a:buNone/>
            </a:pPr>
            <a:r>
              <a:rPr lang="en-US" sz="1900" dirty="0">
                <a:solidFill>
                  <a:srgbClr val="201B18"/>
                </a:solidFill>
                <a:latin typeface="Platypi Medium" pitchFamily="34" charset="0"/>
                <a:ea typeface="Platypi Medium" pitchFamily="34" charset="-122"/>
                <a:cs typeface="Platypi Medium" pitchFamily="34" charset="-120"/>
              </a:rPr>
              <a:t>Chapter 2: Requirement Analysis</a:t>
            </a:r>
            <a:endParaRPr lang="en-US" sz="1900" dirty="0"/>
          </a:p>
        </p:txBody>
      </p:sp>
      <p:sp>
        <p:nvSpPr>
          <p:cNvPr id="3" name="Text 1"/>
          <p:cNvSpPr/>
          <p:nvPr/>
        </p:nvSpPr>
        <p:spPr>
          <a:xfrm>
            <a:off x="496119" y="855241"/>
            <a:ext cx="8608963" cy="138038"/>
          </a:xfrm>
          <a:prstGeom prst="rect">
            <a:avLst/>
          </a:prstGeom>
          <a:noFill/>
          <a:ln/>
        </p:spPr>
        <p:txBody>
          <a:bodyPr wrap="none" lIns="0" tIns="0" rIns="0" bIns="0" rtlCol="0" anchor="t"/>
          <a:lstStyle/>
          <a:p>
            <a:pPr algn="l" indent="0" marL="0">
              <a:lnSpc>
                <a:spcPct val="119000"/>
              </a:lnSpc>
              <a:buNone/>
            </a:pPr>
            <a:r>
              <a:rPr lang="en-US" sz="750" dirty="0">
                <a:solidFill>
                  <a:srgbClr val="504C49"/>
                </a:solidFill>
                <a:latin typeface="Source Serif 4" pitchFamily="34" charset="0"/>
                <a:ea typeface="Source Serif 4" pitchFamily="34" charset="-122"/>
                <a:cs typeface="Source Serif 4" pitchFamily="34" charset="-120"/>
              </a:rPr>
              <a:t>Requirement Analysis identifies, documents, and validates functional and non-functional requirements, forming the foundation for design, implementation, and testing.</a:t>
            </a:r>
            <a:endParaRPr lang="en-US" sz="750" dirty="0"/>
          </a:p>
        </p:txBody>
      </p:sp>
      <p:sp>
        <p:nvSpPr>
          <p:cNvPr id="4" name="Text 2"/>
          <p:cNvSpPr/>
          <p:nvPr/>
        </p:nvSpPr>
        <p:spPr>
          <a:xfrm>
            <a:off x="496119" y="1154088"/>
            <a:ext cx="2016175" cy="151433"/>
          </a:xfrm>
          <a:prstGeom prst="rect">
            <a:avLst/>
          </a:prstGeom>
          <a:noFill/>
          <a:ln/>
        </p:spPr>
        <p:txBody>
          <a:bodyPr wrap="none" lIns="0" tIns="0" rIns="0" bIns="0" rtlCol="0" anchor="t"/>
          <a:lstStyle/>
          <a:p>
            <a:pPr algn="l" indent="0" marL="0">
              <a:lnSpc>
                <a:spcPct val="104000"/>
              </a:lnSpc>
              <a:buNone/>
            </a:pPr>
            <a:r>
              <a:rPr lang="en-US" sz="950" dirty="0">
                <a:solidFill>
                  <a:srgbClr val="201B18"/>
                </a:solidFill>
                <a:latin typeface="Platypi Medium" pitchFamily="34" charset="0"/>
                <a:ea typeface="Platypi Medium" pitchFamily="34" charset="-122"/>
                <a:cs typeface="Platypi Medium" pitchFamily="34" charset="-120"/>
              </a:rPr>
              <a:t>Stakeholders &amp; User Roles</a:t>
            </a:r>
            <a:endParaRPr lang="en-US" sz="950" dirty="0"/>
          </a:p>
        </p:txBody>
      </p:sp>
      <p:sp>
        <p:nvSpPr>
          <p:cNvPr id="5" name="Shape 3"/>
          <p:cNvSpPr/>
          <p:nvPr/>
        </p:nvSpPr>
        <p:spPr>
          <a:xfrm>
            <a:off x="496119" y="1390650"/>
            <a:ext cx="3957712" cy="2048545"/>
          </a:xfrm>
          <a:prstGeom prst="roundRect">
            <a:avLst>
              <a:gd name="adj" fmla="val 710"/>
            </a:avLst>
          </a:prstGeom>
          <a:noFill/>
          <a:ln w="4763">
            <a:solidFill>
              <a:srgbClr val="000000">
                <a:alpha val="8000"/>
              </a:srgbClr>
            </a:solidFill>
            <a:prstDash val="solid"/>
          </a:ln>
        </p:spPr>
      </p:sp>
      <p:sp>
        <p:nvSpPr>
          <p:cNvPr id="6" name="Text 4"/>
          <p:cNvSpPr/>
          <p:nvPr/>
        </p:nvSpPr>
        <p:spPr>
          <a:xfrm>
            <a:off x="597843" y="1445568"/>
            <a:ext cx="2237482" cy="138038"/>
          </a:xfrm>
          <a:prstGeom prst="rect">
            <a:avLst/>
          </a:prstGeom>
          <a:noFill/>
          <a:ln/>
        </p:spPr>
        <p:txBody>
          <a:bodyPr wrap="none" lIns="0" tIns="0" rIns="0" bIns="0" rtlCol="0" anchor="t"/>
          <a:lstStyle/>
          <a:p>
            <a:pPr algn="l" indent="0" marL="0">
              <a:lnSpc>
                <a:spcPct val="119000"/>
              </a:lnSpc>
              <a:buNone/>
            </a:pPr>
            <a:r>
              <a:rPr lang="en-US" sz="750" b="1" dirty="0">
                <a:solidFill>
                  <a:srgbClr val="504C49"/>
                </a:solidFill>
                <a:latin typeface="Source Serif 4 Bold" pitchFamily="34" charset="0"/>
                <a:ea typeface="Source Serif 4 Bold" pitchFamily="34" charset="-122"/>
                <a:cs typeface="Source Serif 4 Bold" pitchFamily="34" charset="-120"/>
              </a:rPr>
              <a:t>Stakeholder</a:t>
            </a:r>
            <a:endParaRPr lang="en-US" sz="750" dirty="0"/>
          </a:p>
        </p:txBody>
      </p:sp>
      <p:sp>
        <p:nvSpPr>
          <p:cNvPr id="7" name="Text 5"/>
          <p:cNvSpPr/>
          <p:nvPr/>
        </p:nvSpPr>
        <p:spPr>
          <a:xfrm>
            <a:off x="2571899" y="1445568"/>
            <a:ext cx="2237482" cy="138038"/>
          </a:xfrm>
          <a:prstGeom prst="rect">
            <a:avLst/>
          </a:prstGeom>
          <a:noFill/>
          <a:ln/>
        </p:spPr>
        <p:txBody>
          <a:bodyPr wrap="none" lIns="0" tIns="0" rIns="0" bIns="0" rtlCol="0" anchor="t"/>
          <a:lstStyle/>
          <a:p>
            <a:pPr algn="l" indent="0" marL="0">
              <a:lnSpc>
                <a:spcPct val="119000"/>
              </a:lnSpc>
              <a:buNone/>
            </a:pPr>
            <a:r>
              <a:rPr lang="en-US" sz="750" b="1" dirty="0">
                <a:solidFill>
                  <a:srgbClr val="504C49"/>
                </a:solidFill>
                <a:latin typeface="Source Serif 4 Bold" pitchFamily="34" charset="0"/>
                <a:ea typeface="Source Serif 4 Bold" pitchFamily="34" charset="-122"/>
                <a:cs typeface="Source Serif 4 Bold" pitchFamily="34" charset="-120"/>
              </a:rPr>
              <a:t>Responsibilities</a:t>
            </a:r>
            <a:endParaRPr lang="en-US" sz="750" dirty="0"/>
          </a:p>
        </p:txBody>
      </p:sp>
      <p:sp>
        <p:nvSpPr>
          <p:cNvPr id="8" name="Text 6"/>
          <p:cNvSpPr/>
          <p:nvPr/>
        </p:nvSpPr>
        <p:spPr>
          <a:xfrm>
            <a:off x="597843" y="1688678"/>
            <a:ext cx="2237482" cy="138038"/>
          </a:xfrm>
          <a:prstGeom prst="rect">
            <a:avLst/>
          </a:prstGeom>
          <a:noFill/>
          <a:ln/>
        </p:spPr>
        <p:txBody>
          <a:bodyPr wrap="none" lIns="0" tIns="0" rIns="0" bIns="0" rtlCol="0" anchor="t"/>
          <a:lstStyle/>
          <a:p>
            <a:pPr algn="l" indent="0" marL="0">
              <a:lnSpc>
                <a:spcPct val="119000"/>
              </a:lnSpc>
              <a:buNone/>
            </a:pPr>
            <a:r>
              <a:rPr lang="en-US" sz="750" dirty="0">
                <a:solidFill>
                  <a:srgbClr val="504C49"/>
                </a:solidFill>
                <a:latin typeface="Source Serif 4" pitchFamily="34" charset="0"/>
                <a:ea typeface="Source Serif 4" pitchFamily="34" charset="-122"/>
                <a:cs typeface="Source Serif 4" pitchFamily="34" charset="-120"/>
              </a:rPr>
              <a:t>Administrator</a:t>
            </a:r>
            <a:endParaRPr lang="en-US" sz="750" dirty="0"/>
          </a:p>
        </p:txBody>
      </p:sp>
      <p:sp>
        <p:nvSpPr>
          <p:cNvPr id="9" name="Text 7"/>
          <p:cNvSpPr/>
          <p:nvPr/>
        </p:nvSpPr>
        <p:spPr>
          <a:xfrm>
            <a:off x="2571899" y="1688678"/>
            <a:ext cx="1780282" cy="276076"/>
          </a:xfrm>
          <a:prstGeom prst="rect">
            <a:avLst/>
          </a:prstGeom>
          <a:noFill/>
          <a:ln/>
        </p:spPr>
        <p:txBody>
          <a:bodyPr wrap="square" lIns="0" tIns="0" rIns="0" bIns="0" rtlCol="0" anchor="t">
            <a:normAutofit/>
          </a:bodyPr>
          <a:lstStyle/>
          <a:p>
            <a:pPr algn="l" indent="0" marL="0">
              <a:lnSpc>
                <a:spcPct val="119000"/>
              </a:lnSpc>
              <a:buNone/>
            </a:pPr>
            <a:r>
              <a:rPr lang="en-US" sz="750" dirty="0">
                <a:solidFill>
                  <a:srgbClr val="504C49"/>
                </a:solidFill>
                <a:latin typeface="Source Serif 4" pitchFamily="34" charset="0"/>
                <a:ea typeface="Source Serif 4" pitchFamily="34" charset="-122"/>
                <a:cs typeface="Source Serif 4" pitchFamily="34" charset="-120"/>
              </a:rPr>
              <a:t>Manage users, departments, system settings, reports</a:t>
            </a:r>
            <a:endParaRPr lang="en-US" sz="750" dirty="0"/>
          </a:p>
        </p:txBody>
      </p:sp>
      <p:sp>
        <p:nvSpPr>
          <p:cNvPr id="10" name="Text 8"/>
          <p:cNvSpPr/>
          <p:nvPr/>
        </p:nvSpPr>
        <p:spPr>
          <a:xfrm>
            <a:off x="597843" y="2069827"/>
            <a:ext cx="2237482" cy="138038"/>
          </a:xfrm>
          <a:prstGeom prst="rect">
            <a:avLst/>
          </a:prstGeom>
          <a:noFill/>
          <a:ln/>
        </p:spPr>
        <p:txBody>
          <a:bodyPr wrap="none" lIns="0" tIns="0" rIns="0" bIns="0" rtlCol="0" anchor="t"/>
          <a:lstStyle/>
          <a:p>
            <a:pPr algn="l" indent="0" marL="0">
              <a:lnSpc>
                <a:spcPct val="119000"/>
              </a:lnSpc>
              <a:buNone/>
            </a:pPr>
            <a:r>
              <a:rPr lang="en-US" sz="750" dirty="0">
                <a:solidFill>
                  <a:srgbClr val="504C49"/>
                </a:solidFill>
                <a:latin typeface="Source Serif 4" pitchFamily="34" charset="0"/>
                <a:ea typeface="Source Serif 4" pitchFamily="34" charset="-122"/>
                <a:cs typeface="Source Serif 4" pitchFamily="34" charset="-120"/>
              </a:rPr>
              <a:t>HR Manager</a:t>
            </a:r>
            <a:endParaRPr lang="en-US" sz="750" dirty="0"/>
          </a:p>
        </p:txBody>
      </p:sp>
      <p:sp>
        <p:nvSpPr>
          <p:cNvPr id="11" name="Text 9"/>
          <p:cNvSpPr/>
          <p:nvPr/>
        </p:nvSpPr>
        <p:spPr>
          <a:xfrm>
            <a:off x="2571899" y="2069827"/>
            <a:ext cx="1780282" cy="414114"/>
          </a:xfrm>
          <a:prstGeom prst="rect">
            <a:avLst/>
          </a:prstGeom>
          <a:noFill/>
          <a:ln/>
        </p:spPr>
        <p:txBody>
          <a:bodyPr wrap="square" lIns="0" tIns="0" rIns="0" bIns="0" rtlCol="0" anchor="t">
            <a:normAutofit/>
          </a:bodyPr>
          <a:lstStyle/>
          <a:p>
            <a:pPr algn="l" indent="0" marL="0">
              <a:lnSpc>
                <a:spcPct val="119000"/>
              </a:lnSpc>
              <a:buNone/>
            </a:pPr>
            <a:r>
              <a:rPr lang="en-US" sz="750" dirty="0">
                <a:solidFill>
                  <a:srgbClr val="504C49"/>
                </a:solidFill>
                <a:latin typeface="Source Serif 4" pitchFamily="34" charset="0"/>
                <a:ea typeface="Source Serif 4" pitchFamily="34" charset="-122"/>
                <a:cs typeface="Source Serif 4" pitchFamily="34" charset="-120"/>
              </a:rPr>
              <a:t>Manage employees, monitor productivity, review burnout predictions</a:t>
            </a:r>
            <a:endParaRPr lang="en-US" sz="750" dirty="0"/>
          </a:p>
        </p:txBody>
      </p:sp>
      <p:sp>
        <p:nvSpPr>
          <p:cNvPr id="12" name="Text 10"/>
          <p:cNvSpPr/>
          <p:nvPr/>
        </p:nvSpPr>
        <p:spPr>
          <a:xfrm>
            <a:off x="597843" y="2589014"/>
            <a:ext cx="2237482" cy="138038"/>
          </a:xfrm>
          <a:prstGeom prst="rect">
            <a:avLst/>
          </a:prstGeom>
          <a:noFill/>
          <a:ln/>
        </p:spPr>
        <p:txBody>
          <a:bodyPr wrap="none" lIns="0" tIns="0" rIns="0" bIns="0" rtlCol="0" anchor="t"/>
          <a:lstStyle/>
          <a:p>
            <a:pPr algn="l" indent="0" marL="0">
              <a:lnSpc>
                <a:spcPct val="119000"/>
              </a:lnSpc>
              <a:buNone/>
            </a:pPr>
            <a:r>
              <a:rPr lang="en-US" sz="750" dirty="0">
                <a:solidFill>
                  <a:srgbClr val="504C49"/>
                </a:solidFill>
                <a:latin typeface="Source Serif 4" pitchFamily="34" charset="0"/>
                <a:ea typeface="Source Serif 4" pitchFamily="34" charset="-122"/>
                <a:cs typeface="Source Serif 4" pitchFamily="34" charset="-120"/>
              </a:rPr>
              <a:t>Employee</a:t>
            </a:r>
            <a:endParaRPr lang="en-US" sz="750" dirty="0"/>
          </a:p>
        </p:txBody>
      </p:sp>
      <p:sp>
        <p:nvSpPr>
          <p:cNvPr id="13" name="Text 11"/>
          <p:cNvSpPr/>
          <p:nvPr/>
        </p:nvSpPr>
        <p:spPr>
          <a:xfrm>
            <a:off x="2571899" y="2589014"/>
            <a:ext cx="1780282" cy="414114"/>
          </a:xfrm>
          <a:prstGeom prst="rect">
            <a:avLst/>
          </a:prstGeom>
          <a:noFill/>
          <a:ln/>
        </p:spPr>
        <p:txBody>
          <a:bodyPr wrap="square" lIns="0" tIns="0" rIns="0" bIns="0" rtlCol="0" anchor="t">
            <a:normAutofit/>
          </a:bodyPr>
          <a:lstStyle/>
          <a:p>
            <a:pPr algn="l" indent="0" marL="0">
              <a:lnSpc>
                <a:spcPct val="119000"/>
              </a:lnSpc>
              <a:buNone/>
            </a:pPr>
            <a:r>
              <a:rPr lang="en-US" sz="750" dirty="0">
                <a:solidFill>
                  <a:srgbClr val="504C49"/>
                </a:solidFill>
                <a:latin typeface="Source Serif 4" pitchFamily="34" charset="0"/>
                <a:ea typeface="Source Serif 4" pitchFamily="34" charset="-122"/>
                <a:cs typeface="Source Serif 4" pitchFamily="34" charset="-120"/>
              </a:rPr>
              <a:t>View personal information, performance metrics, and productivity reports</a:t>
            </a:r>
            <a:endParaRPr lang="en-US" sz="750" dirty="0"/>
          </a:p>
        </p:txBody>
      </p:sp>
      <p:sp>
        <p:nvSpPr>
          <p:cNvPr id="14" name="Text 12"/>
          <p:cNvSpPr/>
          <p:nvPr/>
        </p:nvSpPr>
        <p:spPr>
          <a:xfrm>
            <a:off x="597843" y="3108201"/>
            <a:ext cx="2237482" cy="138038"/>
          </a:xfrm>
          <a:prstGeom prst="rect">
            <a:avLst/>
          </a:prstGeom>
          <a:noFill/>
          <a:ln/>
        </p:spPr>
        <p:txBody>
          <a:bodyPr wrap="none" lIns="0" tIns="0" rIns="0" bIns="0" rtlCol="0" anchor="t"/>
          <a:lstStyle/>
          <a:p>
            <a:pPr algn="l" indent="0" marL="0">
              <a:lnSpc>
                <a:spcPct val="119000"/>
              </a:lnSpc>
              <a:buNone/>
            </a:pPr>
            <a:r>
              <a:rPr lang="en-US" sz="750" dirty="0">
                <a:solidFill>
                  <a:srgbClr val="504C49"/>
                </a:solidFill>
                <a:latin typeface="Source Serif 4" pitchFamily="34" charset="0"/>
                <a:ea typeface="Source Serif 4" pitchFamily="34" charset="-122"/>
                <a:cs typeface="Source Serif 4" pitchFamily="34" charset="-120"/>
              </a:rPr>
              <a:t>System Admin</a:t>
            </a:r>
            <a:endParaRPr lang="en-US" sz="750" dirty="0"/>
          </a:p>
        </p:txBody>
      </p:sp>
      <p:sp>
        <p:nvSpPr>
          <p:cNvPr id="15" name="Text 13"/>
          <p:cNvSpPr/>
          <p:nvPr/>
        </p:nvSpPr>
        <p:spPr>
          <a:xfrm>
            <a:off x="2571899" y="3108201"/>
            <a:ext cx="1780282" cy="276076"/>
          </a:xfrm>
          <a:prstGeom prst="rect">
            <a:avLst/>
          </a:prstGeom>
          <a:noFill/>
          <a:ln/>
        </p:spPr>
        <p:txBody>
          <a:bodyPr wrap="square" lIns="0" tIns="0" rIns="0" bIns="0" rtlCol="0" anchor="t">
            <a:normAutofit/>
          </a:bodyPr>
          <a:lstStyle/>
          <a:p>
            <a:pPr algn="l" indent="0" marL="0">
              <a:lnSpc>
                <a:spcPct val="119000"/>
              </a:lnSpc>
              <a:buNone/>
            </a:pPr>
            <a:r>
              <a:rPr lang="en-US" sz="750" dirty="0">
                <a:solidFill>
                  <a:srgbClr val="504C49"/>
                </a:solidFill>
                <a:latin typeface="Source Serif 4" pitchFamily="34" charset="0"/>
                <a:ea typeface="Source Serif 4" pitchFamily="34" charset="-122"/>
                <a:cs typeface="Source Serif 4" pitchFamily="34" charset="-120"/>
              </a:rPr>
              <a:t>Maintain application, database, backups, and security</a:t>
            </a:r>
            <a:endParaRPr lang="en-US" sz="750" dirty="0"/>
          </a:p>
        </p:txBody>
      </p:sp>
      <p:sp>
        <p:nvSpPr>
          <p:cNvPr id="16" name="Text 14"/>
          <p:cNvSpPr/>
          <p:nvPr/>
        </p:nvSpPr>
        <p:spPr>
          <a:xfrm>
            <a:off x="4694932" y="1154088"/>
            <a:ext cx="1948383" cy="151433"/>
          </a:xfrm>
          <a:prstGeom prst="rect">
            <a:avLst/>
          </a:prstGeom>
          <a:noFill/>
          <a:ln/>
        </p:spPr>
        <p:txBody>
          <a:bodyPr wrap="none" lIns="0" tIns="0" rIns="0" bIns="0" rtlCol="0" anchor="t"/>
          <a:lstStyle/>
          <a:p>
            <a:pPr algn="l" indent="0" marL="0">
              <a:lnSpc>
                <a:spcPct val="104000"/>
              </a:lnSpc>
              <a:buNone/>
            </a:pPr>
            <a:r>
              <a:rPr lang="en-US" sz="950" dirty="0">
                <a:solidFill>
                  <a:srgbClr val="201B18"/>
                </a:solidFill>
                <a:latin typeface="Platypi Medium" pitchFamily="34" charset="0"/>
                <a:ea typeface="Platypi Medium" pitchFamily="34" charset="-122"/>
                <a:cs typeface="Platypi Medium" pitchFamily="34" charset="-120"/>
              </a:rPr>
              <a:t>Functional Requirements</a:t>
            </a:r>
            <a:endParaRPr lang="en-US" sz="950" dirty="0"/>
          </a:p>
        </p:txBody>
      </p:sp>
      <p:sp>
        <p:nvSpPr>
          <p:cNvPr id="17" name="Text 15"/>
          <p:cNvSpPr/>
          <p:nvPr/>
        </p:nvSpPr>
        <p:spPr>
          <a:xfrm>
            <a:off x="4694932" y="1381199"/>
            <a:ext cx="3957712" cy="1427783"/>
          </a:xfrm>
          <a:prstGeom prst="rect">
            <a:avLst/>
          </a:prstGeom>
          <a:noFill/>
          <a:ln/>
        </p:spPr>
        <p:txBody>
          <a:bodyPr wrap="square" lIns="0" tIns="0" rIns="0" bIns="0" rtlCol="0" anchor="t">
            <a:normAutofit/>
          </a:bodyPr>
          <a:lstStyle/>
          <a:p>
            <a:pPr algn="l" marL="152400" indent="-152400">
              <a:lnSpc>
                <a:spcPct val="119000"/>
              </a:lnSpc>
              <a:buSzPct val="100000"/>
              <a:buChar char="•"/>
            </a:pPr>
            <a:r>
              <a:rPr lang="en-US" sz="750" b="1" dirty="0">
                <a:solidFill>
                  <a:srgbClr val="504C49"/>
                </a:solidFill>
                <a:latin typeface="Source Serif 4 Bold" pitchFamily="34" charset="0"/>
                <a:ea typeface="Source Serif 4 Bold" pitchFamily="34" charset="-122"/>
                <a:cs typeface="Source Serif 4 Bold" pitchFamily="34" charset="-120"/>
              </a:rPr>
              <a:t>User Management:</a:t>
            </a:r>
            <a:pPr algn="l" marL="152400" indent="-152400">
              <a:lnSpc>
                <a:spcPct val="119000"/>
              </a:lnSpc>
              <a:buSzPct val="100000"/>
              <a:buChar char="•"/>
            </a:pPr>
            <a:r>
              <a:rPr lang="en-US" sz="750" dirty="0">
                <a:solidFill>
                  <a:srgbClr val="504C49"/>
                </a:solidFill>
                <a:latin typeface="Source Serif 4" pitchFamily="34" charset="0"/>
                <a:ea typeface="Source Serif 4" pitchFamily="34" charset="-122"/>
                <a:cs typeface="Source Serif 4" pitchFamily="34" charset="-120"/>
              </a:rPr>
              <a:t> Registration, secure login, logout, password reset, RBAC</a:t>
            </a:r>
            <a:endParaRPr lang="en-US" sz="750" dirty="0"/>
          </a:p>
          <a:p>
            <a:pPr algn="l" marL="152400" indent="-152400">
              <a:lnSpc>
                <a:spcPct val="119000"/>
              </a:lnSpc>
              <a:buSzPct val="100000"/>
              <a:buChar char="•"/>
            </a:pPr>
            <a:r>
              <a:rPr lang="en-US" sz="750" b="1" dirty="0">
                <a:solidFill>
                  <a:srgbClr val="504C49"/>
                </a:solidFill>
                <a:latin typeface="Source Serif 4 Bold" pitchFamily="34" charset="0"/>
                <a:ea typeface="Source Serif 4 Bold" pitchFamily="34" charset="-122"/>
                <a:cs typeface="Source Serif 4 Bold" pitchFamily="34" charset="-120"/>
              </a:rPr>
              <a:t>Employee Management:</a:t>
            </a:r>
            <a:pPr algn="l" marL="152400" indent="-152400">
              <a:lnSpc>
                <a:spcPct val="119000"/>
              </a:lnSpc>
              <a:buSzPct val="100000"/>
              <a:buChar char="•"/>
            </a:pPr>
            <a:r>
              <a:rPr lang="en-US" sz="750" dirty="0">
                <a:solidFill>
                  <a:srgbClr val="504C49"/>
                </a:solidFill>
                <a:latin typeface="Source Serif 4" pitchFamily="34" charset="0"/>
                <a:ea typeface="Source Serif 4" pitchFamily="34" charset="-122"/>
                <a:cs typeface="Source Serif 4" pitchFamily="34" charset="-120"/>
              </a:rPr>
              <a:t> Add, update, delete, search, and view employee profiles</a:t>
            </a:r>
            <a:endParaRPr lang="en-US" sz="750" dirty="0"/>
          </a:p>
          <a:p>
            <a:pPr algn="l" marL="152400" indent="-152400">
              <a:lnSpc>
                <a:spcPct val="119000"/>
              </a:lnSpc>
              <a:buSzPct val="100000"/>
              <a:buChar char="•"/>
            </a:pPr>
            <a:r>
              <a:rPr lang="en-US" sz="750" b="1" dirty="0">
                <a:solidFill>
                  <a:srgbClr val="504C49"/>
                </a:solidFill>
                <a:latin typeface="Source Serif 4 Bold" pitchFamily="34" charset="0"/>
                <a:ea typeface="Source Serif 4 Bold" pitchFamily="34" charset="-122"/>
                <a:cs typeface="Source Serif 4 Bold" pitchFamily="34" charset="-120"/>
              </a:rPr>
              <a:t>Department Management:</a:t>
            </a:r>
            <a:pPr algn="l" marL="152400" indent="-152400">
              <a:lnSpc>
                <a:spcPct val="119000"/>
              </a:lnSpc>
              <a:buSzPct val="100000"/>
              <a:buChar char="•"/>
            </a:pPr>
            <a:r>
              <a:rPr lang="en-US" sz="750" dirty="0">
                <a:solidFill>
                  <a:srgbClr val="504C49"/>
                </a:solidFill>
                <a:latin typeface="Source Serif 4" pitchFamily="34" charset="0"/>
                <a:ea typeface="Source Serif 4" pitchFamily="34" charset="-122"/>
                <a:cs typeface="Source Serif 4" pitchFamily="34" charset="-120"/>
              </a:rPr>
              <a:t> Add departments, assign employees, update details</a:t>
            </a:r>
            <a:endParaRPr lang="en-US" sz="750" dirty="0"/>
          </a:p>
          <a:p>
            <a:pPr algn="l" marL="152400" indent="-152400">
              <a:lnSpc>
                <a:spcPct val="119000"/>
              </a:lnSpc>
              <a:buSzPct val="100000"/>
              <a:buChar char="•"/>
            </a:pPr>
            <a:r>
              <a:rPr lang="en-US" sz="750" b="1" dirty="0">
                <a:solidFill>
                  <a:srgbClr val="504C49"/>
                </a:solidFill>
                <a:latin typeface="Source Serif 4 Bold" pitchFamily="34" charset="0"/>
                <a:ea typeface="Source Serif 4 Bold" pitchFamily="34" charset="-122"/>
                <a:cs typeface="Source Serif 4 Bold" pitchFamily="34" charset="-120"/>
              </a:rPr>
              <a:t>Attendance:</a:t>
            </a:r>
            <a:pPr algn="l" marL="152400" indent="-152400">
              <a:lnSpc>
                <a:spcPct val="119000"/>
              </a:lnSpc>
              <a:buSzPct val="100000"/>
              <a:buChar char="•"/>
            </a:pPr>
            <a:r>
              <a:rPr lang="en-US" sz="750" dirty="0">
                <a:solidFill>
                  <a:srgbClr val="504C49"/>
                </a:solidFill>
                <a:latin typeface="Source Serif 4" pitchFamily="34" charset="0"/>
                <a:ea typeface="Source Serif 4" pitchFamily="34" charset="-122"/>
                <a:cs typeface="Source Serif 4" pitchFamily="34" charset="-120"/>
              </a:rPr>
              <a:t> Record attendance, view history, generate reports</a:t>
            </a:r>
            <a:endParaRPr lang="en-US" sz="750" dirty="0"/>
          </a:p>
          <a:p>
            <a:pPr algn="l" marL="152400" indent="-152400">
              <a:lnSpc>
                <a:spcPct val="119000"/>
              </a:lnSpc>
              <a:buSzPct val="100000"/>
              <a:buChar char="•"/>
            </a:pPr>
            <a:r>
              <a:rPr lang="en-US" sz="750" b="1" dirty="0">
                <a:solidFill>
                  <a:srgbClr val="504C49"/>
                </a:solidFill>
                <a:latin typeface="Source Serif 4 Bold" pitchFamily="34" charset="0"/>
                <a:ea typeface="Source Serif 4 Bold" pitchFamily="34" charset="-122"/>
                <a:cs typeface="Source Serif 4 Bold" pitchFamily="34" charset="-120"/>
              </a:rPr>
              <a:t>Performance:</a:t>
            </a:r>
            <a:pPr algn="l" marL="152400" indent="-152400">
              <a:lnSpc>
                <a:spcPct val="119000"/>
              </a:lnSpc>
              <a:buSzPct val="100000"/>
              <a:buChar char="•"/>
            </a:pPr>
            <a:r>
              <a:rPr lang="en-US" sz="750" dirty="0">
                <a:solidFill>
                  <a:srgbClr val="504C49"/>
                </a:solidFill>
                <a:latin typeface="Source Serif 4" pitchFamily="34" charset="0"/>
                <a:ea typeface="Source Serif 4" pitchFamily="34" charset="-122"/>
                <a:cs typeface="Source Serif 4" pitchFamily="34" charset="-120"/>
              </a:rPr>
              <a:t> Track metrics, store ratings, generate reports</a:t>
            </a:r>
            <a:endParaRPr lang="en-US" sz="750" dirty="0"/>
          </a:p>
          <a:p>
            <a:pPr algn="l" marL="152400" indent="-152400">
              <a:lnSpc>
                <a:spcPct val="119000"/>
              </a:lnSpc>
              <a:buSzPct val="100000"/>
              <a:buChar char="•"/>
            </a:pPr>
            <a:r>
              <a:rPr lang="en-US" sz="750" b="1" dirty="0">
                <a:solidFill>
                  <a:srgbClr val="504C49"/>
                </a:solidFill>
                <a:latin typeface="Source Serif 4 Bold" pitchFamily="34" charset="0"/>
                <a:ea typeface="Source Serif 4 Bold" pitchFamily="34" charset="-122"/>
                <a:cs typeface="Source Serif 4 Bold" pitchFamily="34" charset="-120"/>
              </a:rPr>
              <a:t>Burnout Prediction:</a:t>
            </a:r>
            <a:pPr algn="l" marL="152400" indent="-152400">
              <a:lnSpc>
                <a:spcPct val="119000"/>
              </a:lnSpc>
              <a:buSzPct val="100000"/>
              <a:buChar char="•"/>
            </a:pPr>
            <a:r>
              <a:rPr lang="en-US" sz="750" dirty="0">
                <a:solidFill>
                  <a:srgbClr val="504C49"/>
                </a:solidFill>
                <a:latin typeface="Source Serif 4" pitchFamily="34" charset="0"/>
                <a:ea typeface="Source Serif 4" pitchFamily="34" charset="-122"/>
                <a:cs typeface="Source Serif 4" pitchFamily="34" charset="-120"/>
              </a:rPr>
              <a:t> Train ML model, predict burnout level, store history</a:t>
            </a:r>
            <a:endParaRPr lang="en-US" sz="750" dirty="0"/>
          </a:p>
          <a:p>
            <a:pPr algn="l" marL="152400" indent="-152400">
              <a:lnSpc>
                <a:spcPct val="119000"/>
              </a:lnSpc>
              <a:buSzPct val="100000"/>
              <a:buChar char="•"/>
            </a:pPr>
            <a:r>
              <a:rPr lang="en-US" sz="750" b="1" dirty="0">
                <a:solidFill>
                  <a:srgbClr val="504C49"/>
                </a:solidFill>
                <a:latin typeface="Source Serif 4 Bold" pitchFamily="34" charset="0"/>
                <a:ea typeface="Source Serif 4 Bold" pitchFamily="34" charset="-122"/>
                <a:cs typeface="Source Serif 4 Bold" pitchFamily="34" charset="-120"/>
              </a:rPr>
              <a:t>Dashboard:</a:t>
            </a:r>
            <a:pPr algn="l" marL="152400" indent="-152400">
              <a:lnSpc>
                <a:spcPct val="119000"/>
              </a:lnSpc>
              <a:buSzPct val="100000"/>
              <a:buChar char="•"/>
            </a:pPr>
            <a:r>
              <a:rPr lang="en-US" sz="750" dirty="0">
                <a:solidFill>
                  <a:srgbClr val="504C49"/>
                </a:solidFill>
                <a:latin typeface="Source Serif 4" pitchFamily="34" charset="0"/>
                <a:ea typeface="Source Serif 4" pitchFamily="34" charset="-122"/>
                <a:cs typeface="Source Serif 4" pitchFamily="34" charset="-120"/>
              </a:rPr>
              <a:t> Employee statistics, department analytics, productivity charts, burnout risk distribution</a:t>
            </a:r>
            <a:endParaRPr lang="en-US" sz="750" dirty="0"/>
          </a:p>
          <a:p>
            <a:pPr algn="l" marL="152400" indent="-152400">
              <a:lnSpc>
                <a:spcPct val="119000"/>
              </a:lnSpc>
              <a:buSzPct val="100000"/>
              <a:buChar char="•"/>
            </a:pPr>
            <a:r>
              <a:rPr lang="en-US" sz="750" b="1" dirty="0">
                <a:solidFill>
                  <a:srgbClr val="504C49"/>
                </a:solidFill>
                <a:latin typeface="Source Serif 4 Bold" pitchFamily="34" charset="0"/>
                <a:ea typeface="Source Serif 4 Bold" pitchFamily="34" charset="-122"/>
                <a:cs typeface="Source Serif 4 Bold" pitchFamily="34" charset="-120"/>
              </a:rPr>
              <a:t>Reporting:</a:t>
            </a:r>
            <a:pPr algn="l" marL="152400" indent="-152400">
              <a:lnSpc>
                <a:spcPct val="119000"/>
              </a:lnSpc>
              <a:buSzPct val="100000"/>
              <a:buChar char="•"/>
            </a:pPr>
            <a:r>
              <a:rPr lang="en-US" sz="750" dirty="0">
                <a:solidFill>
                  <a:srgbClr val="504C49"/>
                </a:solidFill>
                <a:latin typeface="Source Serif 4" pitchFamily="34" charset="0"/>
                <a:ea typeface="Source Serif 4" pitchFamily="34" charset="-122"/>
                <a:cs typeface="Source Serif 4" pitchFamily="34" charset="-120"/>
              </a:rPr>
              <a:t> Export PDF and CSV reports</a:t>
            </a:r>
            <a:endParaRPr lang="en-US" sz="750" dirty="0"/>
          </a:p>
        </p:txBody>
      </p:sp>
      <p:sp>
        <p:nvSpPr>
          <p:cNvPr id="18" name="Shape 16"/>
          <p:cNvSpPr/>
          <p:nvPr/>
        </p:nvSpPr>
        <p:spPr>
          <a:xfrm>
            <a:off x="496119" y="3609454"/>
            <a:ext cx="4038005" cy="528638"/>
          </a:xfrm>
          <a:prstGeom prst="roundRect">
            <a:avLst>
              <a:gd name="adj" fmla="val 2750"/>
            </a:avLst>
          </a:prstGeom>
          <a:solidFill>
            <a:srgbClr val="F9F7F7"/>
          </a:solidFill>
          <a:ln/>
        </p:spPr>
      </p:sp>
      <p:sp>
        <p:nvSpPr>
          <p:cNvPr id="19" name="Text 17"/>
          <p:cNvSpPr/>
          <p:nvPr/>
        </p:nvSpPr>
        <p:spPr>
          <a:xfrm>
            <a:off x="593006" y="3706341"/>
            <a:ext cx="1211387" cy="151433"/>
          </a:xfrm>
          <a:prstGeom prst="rect">
            <a:avLst/>
          </a:prstGeom>
          <a:noFill/>
          <a:ln/>
        </p:spPr>
        <p:txBody>
          <a:bodyPr wrap="none" lIns="0" tIns="0" rIns="0" bIns="0" rtlCol="0" anchor="t"/>
          <a:lstStyle/>
          <a:p>
            <a:pPr algn="l" indent="0" marL="0">
              <a:lnSpc>
                <a:spcPct val="104000"/>
              </a:lnSpc>
              <a:buNone/>
            </a:pPr>
            <a:r>
              <a:rPr lang="en-US" sz="950" dirty="0">
                <a:solidFill>
                  <a:srgbClr val="504C49"/>
                </a:solidFill>
                <a:latin typeface="Platypi Medium" pitchFamily="34" charset="0"/>
                <a:ea typeface="Platypi Medium" pitchFamily="34" charset="-122"/>
                <a:cs typeface="Platypi Medium" pitchFamily="34" charset="-120"/>
              </a:rPr>
              <a:t>Performance</a:t>
            </a:r>
            <a:endParaRPr lang="en-US" sz="950" dirty="0"/>
          </a:p>
        </p:txBody>
      </p:sp>
      <p:sp>
        <p:nvSpPr>
          <p:cNvPr id="20" name="Text 18"/>
          <p:cNvSpPr/>
          <p:nvPr/>
        </p:nvSpPr>
        <p:spPr>
          <a:xfrm>
            <a:off x="593006" y="3903166"/>
            <a:ext cx="3844230" cy="138038"/>
          </a:xfrm>
          <a:prstGeom prst="rect">
            <a:avLst/>
          </a:prstGeom>
          <a:noFill/>
          <a:ln/>
        </p:spPr>
        <p:txBody>
          <a:bodyPr wrap="none" lIns="0" tIns="0" rIns="0" bIns="0" rtlCol="0" anchor="t"/>
          <a:lstStyle/>
          <a:p>
            <a:pPr algn="l" indent="0" marL="0">
              <a:lnSpc>
                <a:spcPct val="119000"/>
              </a:lnSpc>
              <a:buNone/>
            </a:pPr>
            <a:r>
              <a:rPr lang="en-US" sz="750" dirty="0">
                <a:solidFill>
                  <a:srgbClr val="504C49"/>
                </a:solidFill>
                <a:latin typeface="Source Serif 4" pitchFamily="34" charset="0"/>
                <a:ea typeface="Source Serif 4" pitchFamily="34" charset="-122"/>
                <a:cs typeface="Source Serif 4" pitchFamily="34" charset="-120"/>
              </a:rPr>
              <a:t>Response time under 3 seconds; efficient concurrent user support</a:t>
            </a:r>
            <a:endParaRPr lang="en-US" sz="750" dirty="0"/>
          </a:p>
        </p:txBody>
      </p:sp>
      <p:sp>
        <p:nvSpPr>
          <p:cNvPr id="21" name="Shape 19"/>
          <p:cNvSpPr/>
          <p:nvPr/>
        </p:nvSpPr>
        <p:spPr>
          <a:xfrm>
            <a:off x="4609802" y="3609454"/>
            <a:ext cx="4038079" cy="528638"/>
          </a:xfrm>
          <a:prstGeom prst="roundRect">
            <a:avLst>
              <a:gd name="adj" fmla="val 2750"/>
            </a:avLst>
          </a:prstGeom>
          <a:solidFill>
            <a:srgbClr val="F9F7F7"/>
          </a:solidFill>
          <a:ln/>
        </p:spPr>
      </p:sp>
      <p:sp>
        <p:nvSpPr>
          <p:cNvPr id="22" name="Text 20"/>
          <p:cNvSpPr/>
          <p:nvPr/>
        </p:nvSpPr>
        <p:spPr>
          <a:xfrm>
            <a:off x="4706689" y="3706341"/>
            <a:ext cx="1211387" cy="151433"/>
          </a:xfrm>
          <a:prstGeom prst="rect">
            <a:avLst/>
          </a:prstGeom>
          <a:noFill/>
          <a:ln/>
        </p:spPr>
        <p:txBody>
          <a:bodyPr wrap="none" lIns="0" tIns="0" rIns="0" bIns="0" rtlCol="0" anchor="t"/>
          <a:lstStyle/>
          <a:p>
            <a:pPr algn="l" indent="0" marL="0">
              <a:lnSpc>
                <a:spcPct val="104000"/>
              </a:lnSpc>
              <a:buNone/>
            </a:pPr>
            <a:r>
              <a:rPr lang="en-US" sz="950" dirty="0">
                <a:solidFill>
                  <a:srgbClr val="504C49"/>
                </a:solidFill>
                <a:latin typeface="Platypi Medium" pitchFamily="34" charset="0"/>
                <a:ea typeface="Platypi Medium" pitchFamily="34" charset="-122"/>
                <a:cs typeface="Platypi Medium" pitchFamily="34" charset="-120"/>
              </a:rPr>
              <a:t>Security</a:t>
            </a:r>
            <a:endParaRPr lang="en-US" sz="950" dirty="0"/>
          </a:p>
        </p:txBody>
      </p:sp>
      <p:sp>
        <p:nvSpPr>
          <p:cNvPr id="23" name="Text 21"/>
          <p:cNvSpPr/>
          <p:nvPr/>
        </p:nvSpPr>
        <p:spPr>
          <a:xfrm>
            <a:off x="4706689" y="3903166"/>
            <a:ext cx="3844305" cy="138038"/>
          </a:xfrm>
          <a:prstGeom prst="rect">
            <a:avLst/>
          </a:prstGeom>
          <a:noFill/>
          <a:ln/>
        </p:spPr>
        <p:txBody>
          <a:bodyPr wrap="none" lIns="0" tIns="0" rIns="0" bIns="0" rtlCol="0" anchor="t"/>
          <a:lstStyle/>
          <a:p>
            <a:pPr algn="l" indent="0" marL="0">
              <a:lnSpc>
                <a:spcPct val="119000"/>
              </a:lnSpc>
              <a:buNone/>
            </a:pPr>
            <a:r>
              <a:rPr lang="en-US" sz="750" dirty="0">
                <a:solidFill>
                  <a:srgbClr val="504C49"/>
                </a:solidFill>
                <a:latin typeface="Source Serif 4" pitchFamily="34" charset="0"/>
                <a:ea typeface="Source Serif 4" pitchFamily="34" charset="-122"/>
                <a:cs typeface="Source Serif 4" pitchFamily="34" charset="-120"/>
              </a:rPr>
              <a:t>Password hashing, JWT validation, RBAC, HTTPS</a:t>
            </a:r>
            <a:endParaRPr lang="en-US" sz="750" dirty="0"/>
          </a:p>
        </p:txBody>
      </p:sp>
      <p:sp>
        <p:nvSpPr>
          <p:cNvPr id="24" name="Shape 22"/>
          <p:cNvSpPr/>
          <p:nvPr/>
        </p:nvSpPr>
        <p:spPr>
          <a:xfrm>
            <a:off x="496119" y="4213771"/>
            <a:ext cx="4038005" cy="528638"/>
          </a:xfrm>
          <a:prstGeom prst="roundRect">
            <a:avLst>
              <a:gd name="adj" fmla="val 2750"/>
            </a:avLst>
          </a:prstGeom>
          <a:solidFill>
            <a:srgbClr val="F9F7F7"/>
          </a:solidFill>
          <a:ln/>
        </p:spPr>
      </p:sp>
      <p:sp>
        <p:nvSpPr>
          <p:cNvPr id="25" name="Text 23"/>
          <p:cNvSpPr/>
          <p:nvPr/>
        </p:nvSpPr>
        <p:spPr>
          <a:xfrm>
            <a:off x="593006" y="4310658"/>
            <a:ext cx="1211387" cy="151433"/>
          </a:xfrm>
          <a:prstGeom prst="rect">
            <a:avLst/>
          </a:prstGeom>
          <a:noFill/>
          <a:ln/>
        </p:spPr>
        <p:txBody>
          <a:bodyPr wrap="none" lIns="0" tIns="0" rIns="0" bIns="0" rtlCol="0" anchor="t"/>
          <a:lstStyle/>
          <a:p>
            <a:pPr algn="l" indent="0" marL="0">
              <a:lnSpc>
                <a:spcPct val="104000"/>
              </a:lnSpc>
              <a:buNone/>
            </a:pPr>
            <a:r>
              <a:rPr lang="en-US" sz="950" dirty="0">
                <a:solidFill>
                  <a:srgbClr val="504C49"/>
                </a:solidFill>
                <a:latin typeface="Platypi Medium" pitchFamily="34" charset="0"/>
                <a:ea typeface="Platypi Medium" pitchFamily="34" charset="-122"/>
                <a:cs typeface="Platypi Medium" pitchFamily="34" charset="-120"/>
              </a:rPr>
              <a:t>Scalability</a:t>
            </a:r>
            <a:endParaRPr lang="en-US" sz="950" dirty="0"/>
          </a:p>
        </p:txBody>
      </p:sp>
      <p:sp>
        <p:nvSpPr>
          <p:cNvPr id="26" name="Text 24"/>
          <p:cNvSpPr/>
          <p:nvPr/>
        </p:nvSpPr>
        <p:spPr>
          <a:xfrm>
            <a:off x="593006" y="4507483"/>
            <a:ext cx="3844230" cy="138038"/>
          </a:xfrm>
          <a:prstGeom prst="rect">
            <a:avLst/>
          </a:prstGeom>
          <a:noFill/>
          <a:ln/>
        </p:spPr>
        <p:txBody>
          <a:bodyPr wrap="none" lIns="0" tIns="0" rIns="0" bIns="0" rtlCol="0" anchor="t"/>
          <a:lstStyle/>
          <a:p>
            <a:pPr algn="l" indent="0" marL="0">
              <a:lnSpc>
                <a:spcPct val="119000"/>
              </a:lnSpc>
              <a:buNone/>
            </a:pPr>
            <a:r>
              <a:rPr lang="en-US" sz="750" dirty="0">
                <a:solidFill>
                  <a:srgbClr val="504C49"/>
                </a:solidFill>
                <a:latin typeface="Source Serif 4" pitchFamily="34" charset="0"/>
                <a:ea typeface="Source Serif 4" pitchFamily="34" charset="-122"/>
                <a:cs typeface="Source Serif 4" pitchFamily="34" charset="-120"/>
              </a:rPr>
              <a:t>Modular backend, cloud-ready deployment</a:t>
            </a:r>
            <a:endParaRPr lang="en-US" sz="750" dirty="0"/>
          </a:p>
        </p:txBody>
      </p:sp>
      <p:sp>
        <p:nvSpPr>
          <p:cNvPr id="27" name="Shape 25"/>
          <p:cNvSpPr/>
          <p:nvPr/>
        </p:nvSpPr>
        <p:spPr>
          <a:xfrm>
            <a:off x="4609802" y="4213771"/>
            <a:ext cx="4038079" cy="528638"/>
          </a:xfrm>
          <a:prstGeom prst="roundRect">
            <a:avLst>
              <a:gd name="adj" fmla="val 2750"/>
            </a:avLst>
          </a:prstGeom>
          <a:solidFill>
            <a:srgbClr val="F9F7F7"/>
          </a:solidFill>
          <a:ln/>
        </p:spPr>
      </p:sp>
      <p:sp>
        <p:nvSpPr>
          <p:cNvPr id="28" name="Text 26"/>
          <p:cNvSpPr/>
          <p:nvPr/>
        </p:nvSpPr>
        <p:spPr>
          <a:xfrm>
            <a:off x="4706689" y="4310658"/>
            <a:ext cx="1211387" cy="151433"/>
          </a:xfrm>
          <a:prstGeom prst="rect">
            <a:avLst/>
          </a:prstGeom>
          <a:noFill/>
          <a:ln/>
        </p:spPr>
        <p:txBody>
          <a:bodyPr wrap="none" lIns="0" tIns="0" rIns="0" bIns="0" rtlCol="0" anchor="t"/>
          <a:lstStyle/>
          <a:p>
            <a:pPr algn="l" indent="0" marL="0">
              <a:lnSpc>
                <a:spcPct val="104000"/>
              </a:lnSpc>
              <a:buNone/>
            </a:pPr>
            <a:r>
              <a:rPr lang="en-US" sz="950" dirty="0">
                <a:solidFill>
                  <a:srgbClr val="504C49"/>
                </a:solidFill>
                <a:latin typeface="Platypi Medium" pitchFamily="34" charset="0"/>
                <a:ea typeface="Platypi Medium" pitchFamily="34" charset="-122"/>
                <a:cs typeface="Platypi Medium" pitchFamily="34" charset="-120"/>
              </a:rPr>
              <a:t>Hardware</a:t>
            </a:r>
            <a:endParaRPr lang="en-US" sz="950" dirty="0"/>
          </a:p>
        </p:txBody>
      </p:sp>
      <p:sp>
        <p:nvSpPr>
          <p:cNvPr id="29" name="Text 27"/>
          <p:cNvSpPr/>
          <p:nvPr/>
        </p:nvSpPr>
        <p:spPr>
          <a:xfrm>
            <a:off x="4706689" y="4507483"/>
            <a:ext cx="3844305" cy="138038"/>
          </a:xfrm>
          <a:prstGeom prst="rect">
            <a:avLst/>
          </a:prstGeom>
          <a:noFill/>
          <a:ln/>
        </p:spPr>
        <p:txBody>
          <a:bodyPr wrap="none" lIns="0" tIns="0" rIns="0" bIns="0" rtlCol="0" anchor="t"/>
          <a:lstStyle/>
          <a:p>
            <a:pPr algn="l" indent="0" marL="0">
              <a:lnSpc>
                <a:spcPct val="119000"/>
              </a:lnSpc>
              <a:buNone/>
            </a:pPr>
            <a:r>
              <a:rPr lang="en-US" sz="750" dirty="0">
                <a:solidFill>
                  <a:srgbClr val="504C49"/>
                </a:solidFill>
                <a:latin typeface="Source Serif 4" pitchFamily="34" charset="0"/>
                <a:ea typeface="Source Serif 4" pitchFamily="34" charset="-122"/>
                <a:cs typeface="Source Serif 4" pitchFamily="34" charset="-120"/>
              </a:rPr>
              <a:t>Intel Core i5 / Apple M-Series, 8 GB RAM, 20 GB storage</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362471"/>
            <a:ext cx="5882283" cy="351309"/>
          </a:xfrm>
          <a:prstGeom prst="rect">
            <a:avLst/>
          </a:prstGeom>
          <a:noFill/>
          <a:ln/>
        </p:spPr>
        <p:txBody>
          <a:bodyPr wrap="none" lIns="0" tIns="0" rIns="0" bIns="0" rtlCol="0" anchor="t"/>
          <a:lstStyle/>
          <a:p>
            <a:pPr algn="l" indent="0" marL="0">
              <a:lnSpc>
                <a:spcPct val="104000"/>
              </a:lnSpc>
              <a:buNone/>
            </a:pPr>
            <a:r>
              <a:rPr lang="en-US" sz="2200" dirty="0">
                <a:solidFill>
                  <a:srgbClr val="201B18"/>
                </a:solidFill>
                <a:latin typeface="Platypi Medium" pitchFamily="34" charset="0"/>
                <a:ea typeface="Platypi Medium" pitchFamily="34" charset="-122"/>
                <a:cs typeface="Platypi Medium" pitchFamily="34" charset="-120"/>
              </a:rPr>
              <a:t>Chapters 3 &amp; 4: SRS &amp; Feasibility Study</a:t>
            </a:r>
            <a:endParaRPr lang="en-US" sz="2200" dirty="0"/>
          </a:p>
        </p:txBody>
      </p:sp>
      <p:sp>
        <p:nvSpPr>
          <p:cNvPr id="3" name="Text 1"/>
          <p:cNvSpPr/>
          <p:nvPr/>
        </p:nvSpPr>
        <p:spPr>
          <a:xfrm>
            <a:off x="496119" y="917525"/>
            <a:ext cx="8151763" cy="34290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504C49"/>
                </a:solidFill>
                <a:latin typeface="Source Serif 4" pitchFamily="34" charset="0"/>
                <a:ea typeface="Source Serif 4" pitchFamily="34" charset="-122"/>
                <a:cs typeface="Source Serif 4" pitchFamily="34" charset="-120"/>
              </a:rPr>
              <a:t>The SRS defines functional and non-functional requirements as a formal agreement between stakeholders and developers. The feasibility study confirms the project is practical, cost-effective, and achievable.</a:t>
            </a:r>
            <a:endParaRPr lang="en-US" sz="850" dirty="0"/>
          </a:p>
        </p:txBody>
      </p:sp>
      <p:sp>
        <p:nvSpPr>
          <p:cNvPr id="4" name="Shape 2"/>
          <p:cNvSpPr/>
          <p:nvPr/>
        </p:nvSpPr>
        <p:spPr>
          <a:xfrm>
            <a:off x="415156" y="1375023"/>
            <a:ext cx="4100661" cy="2698849"/>
          </a:xfrm>
          <a:prstGeom prst="roundRect">
            <a:avLst>
              <a:gd name="adj" fmla="val 625"/>
            </a:avLst>
          </a:prstGeom>
          <a:solidFill>
            <a:srgbClr val="3E2513"/>
          </a:solidFill>
          <a:ln/>
        </p:spPr>
      </p:sp>
      <p:sp>
        <p:nvSpPr>
          <p:cNvPr id="5" name="Text 3"/>
          <p:cNvSpPr/>
          <p:nvPr/>
        </p:nvSpPr>
        <p:spPr>
          <a:xfrm>
            <a:off x="527521" y="1476896"/>
            <a:ext cx="1862361" cy="175617"/>
          </a:xfrm>
          <a:prstGeom prst="rect">
            <a:avLst/>
          </a:prstGeom>
          <a:noFill/>
          <a:ln/>
        </p:spPr>
        <p:txBody>
          <a:bodyPr wrap="none" lIns="0" tIns="0" rIns="0" bIns="0" rtlCol="0" anchor="t"/>
          <a:lstStyle/>
          <a:p>
            <a:pPr algn="l" indent="0" marL="0">
              <a:lnSpc>
                <a:spcPct val="104000"/>
              </a:lnSpc>
              <a:buNone/>
            </a:pPr>
            <a:r>
              <a:rPr lang="en-US" sz="1100" dirty="0">
                <a:solidFill>
                  <a:srgbClr val="FFFFFF"/>
                </a:solidFill>
                <a:latin typeface="Platypi Medium" pitchFamily="34" charset="0"/>
                <a:ea typeface="Platypi Medium" pitchFamily="34" charset="-122"/>
                <a:cs typeface="Platypi Medium" pitchFamily="34" charset="-120"/>
              </a:rPr>
              <a:t>SRS Core Functions</a:t>
            </a:r>
            <a:endParaRPr lang="en-US" sz="1100" dirty="0"/>
          </a:p>
        </p:txBody>
      </p:sp>
      <p:sp>
        <p:nvSpPr>
          <p:cNvPr id="6" name="Text 4"/>
          <p:cNvSpPr/>
          <p:nvPr/>
        </p:nvSpPr>
        <p:spPr>
          <a:xfrm>
            <a:off x="527521" y="1754386"/>
            <a:ext cx="3875931" cy="1206922"/>
          </a:xfrm>
          <a:prstGeom prst="rect">
            <a:avLst/>
          </a:prstGeom>
          <a:noFill/>
          <a:ln/>
        </p:spPr>
        <p:txBody>
          <a:bodyPr wrap="square" lIns="0" tIns="0" rIns="0" bIns="0" rtlCol="0" anchor="t">
            <a:normAutofit/>
          </a:bodyPr>
          <a:lstStyle/>
          <a:p>
            <a:pPr algn="l" marL="172720" indent="-172720">
              <a:lnSpc>
                <a:spcPct val="127000"/>
              </a:lnSpc>
              <a:buSzPct val="100000"/>
              <a:buChar char="•"/>
            </a:pPr>
            <a:r>
              <a:rPr lang="en-US" sz="850" dirty="0">
                <a:solidFill>
                  <a:srgbClr val="FFFFFF"/>
                </a:solidFill>
                <a:latin typeface="Source Serif 4" pitchFamily="34" charset="0"/>
                <a:ea typeface="Source Serif 4" pitchFamily="34" charset="-122"/>
                <a:cs typeface="Source Serif 4" pitchFamily="34" charset="-120"/>
              </a:rPr>
              <a:t>User authentication and RBAC</a:t>
            </a:r>
            <a:endParaRPr lang="en-US" sz="850" dirty="0"/>
          </a:p>
          <a:p>
            <a:pPr algn="l" marL="172720" indent="-172720">
              <a:lnSpc>
                <a:spcPct val="127000"/>
              </a:lnSpc>
              <a:buSzPct val="100000"/>
              <a:buChar char="•"/>
            </a:pPr>
            <a:r>
              <a:rPr lang="en-US" sz="850" dirty="0">
                <a:solidFill>
                  <a:srgbClr val="FFFFFF"/>
                </a:solidFill>
                <a:latin typeface="Source Serif 4" pitchFamily="34" charset="0"/>
                <a:ea typeface="Source Serif 4" pitchFamily="34" charset="-122"/>
                <a:cs typeface="Source Serif 4" pitchFamily="34" charset="-120"/>
              </a:rPr>
              <a:t>Employee CRUD operations</a:t>
            </a:r>
            <a:endParaRPr lang="en-US" sz="850" dirty="0"/>
          </a:p>
          <a:p>
            <a:pPr algn="l" marL="172720" indent="-172720">
              <a:lnSpc>
                <a:spcPct val="127000"/>
              </a:lnSpc>
              <a:buSzPct val="100000"/>
              <a:buChar char="•"/>
            </a:pPr>
            <a:r>
              <a:rPr lang="en-US" sz="850" dirty="0">
                <a:solidFill>
                  <a:srgbClr val="FFFFFF"/>
                </a:solidFill>
                <a:latin typeface="Source Serif 4" pitchFamily="34" charset="0"/>
                <a:ea typeface="Source Serif 4" pitchFamily="34" charset="-122"/>
                <a:cs typeface="Source Serif 4" pitchFamily="34" charset="-120"/>
              </a:rPr>
              <a:t>Department and attendance management</a:t>
            </a:r>
            <a:endParaRPr lang="en-US" sz="850" dirty="0"/>
          </a:p>
          <a:p>
            <a:pPr algn="l" marL="172720" indent="-172720">
              <a:lnSpc>
                <a:spcPct val="127000"/>
              </a:lnSpc>
              <a:buSzPct val="100000"/>
              <a:buChar char="•"/>
            </a:pPr>
            <a:r>
              <a:rPr lang="en-US" sz="850" dirty="0">
                <a:solidFill>
                  <a:srgbClr val="FFFFFF"/>
                </a:solidFill>
                <a:latin typeface="Source Serif 4" pitchFamily="34" charset="0"/>
                <a:ea typeface="Source Serif 4" pitchFamily="34" charset="-122"/>
                <a:cs typeface="Source Serif 4" pitchFamily="34" charset="-120"/>
              </a:rPr>
              <a:t>Performance tracking and burnout prediction</a:t>
            </a:r>
            <a:endParaRPr lang="en-US" sz="850" dirty="0"/>
          </a:p>
          <a:p>
            <a:pPr algn="l" marL="172720" indent="-172720">
              <a:lnSpc>
                <a:spcPct val="127000"/>
              </a:lnSpc>
              <a:buSzPct val="100000"/>
              <a:buChar char="•"/>
            </a:pPr>
            <a:r>
              <a:rPr lang="en-US" sz="850" dirty="0">
                <a:solidFill>
                  <a:srgbClr val="FFFFFF"/>
                </a:solidFill>
                <a:latin typeface="Source Serif 4" pitchFamily="34" charset="0"/>
                <a:ea typeface="Source Serif 4" pitchFamily="34" charset="-122"/>
                <a:cs typeface="Source Serif 4" pitchFamily="34" charset="-120"/>
              </a:rPr>
              <a:t>Dashboard analytics and report generation</a:t>
            </a:r>
            <a:endParaRPr lang="en-US" sz="850" dirty="0"/>
          </a:p>
          <a:p>
            <a:pPr algn="l" marL="172720" indent="-172720">
              <a:lnSpc>
                <a:spcPct val="127000"/>
              </a:lnSpc>
              <a:buSzPct val="100000"/>
              <a:buChar char="•"/>
            </a:pPr>
            <a:r>
              <a:rPr lang="en-US" sz="850" dirty="0">
                <a:solidFill>
                  <a:srgbClr val="FFFFFF"/>
                </a:solidFill>
                <a:latin typeface="Source Serif 4" pitchFamily="34" charset="0"/>
                <a:ea typeface="Source Serif 4" pitchFamily="34" charset="-122"/>
                <a:cs typeface="Source Serif 4" pitchFamily="34" charset="-120"/>
              </a:rPr>
              <a:t>Audit logging and security compliance</a:t>
            </a:r>
            <a:endParaRPr lang="en-US" sz="850" dirty="0"/>
          </a:p>
        </p:txBody>
      </p:sp>
      <p:sp>
        <p:nvSpPr>
          <p:cNvPr id="7" name="Text 5"/>
          <p:cNvSpPr/>
          <p:nvPr/>
        </p:nvSpPr>
        <p:spPr>
          <a:xfrm>
            <a:off x="4713908" y="1476896"/>
            <a:ext cx="1877913" cy="175617"/>
          </a:xfrm>
          <a:prstGeom prst="rect">
            <a:avLst/>
          </a:prstGeom>
          <a:noFill/>
          <a:ln/>
        </p:spPr>
        <p:txBody>
          <a:bodyPr wrap="none" lIns="0" tIns="0" rIns="0" bIns="0" rtlCol="0" anchor="t"/>
          <a:lstStyle/>
          <a:p>
            <a:pPr algn="l" indent="0" marL="0">
              <a:lnSpc>
                <a:spcPct val="104000"/>
              </a:lnSpc>
              <a:buNone/>
            </a:pPr>
            <a:r>
              <a:rPr lang="en-US" sz="1100" dirty="0">
                <a:solidFill>
                  <a:srgbClr val="201B18"/>
                </a:solidFill>
                <a:latin typeface="Platypi Medium" pitchFamily="34" charset="0"/>
                <a:ea typeface="Platypi Medium" pitchFamily="34" charset="-122"/>
                <a:cs typeface="Platypi Medium" pitchFamily="34" charset="-120"/>
              </a:rPr>
              <a:t>Feasibility Summary</a:t>
            </a:r>
            <a:endParaRPr lang="en-US" sz="1100" dirty="0"/>
          </a:p>
        </p:txBody>
      </p:sp>
      <p:sp>
        <p:nvSpPr>
          <p:cNvPr id="8" name="Shape 6"/>
          <p:cNvSpPr/>
          <p:nvPr/>
        </p:nvSpPr>
        <p:spPr>
          <a:xfrm>
            <a:off x="4713908" y="1767111"/>
            <a:ext cx="1918395" cy="1045146"/>
          </a:xfrm>
          <a:prstGeom prst="roundRect">
            <a:avLst>
              <a:gd name="adj" fmla="val 1613"/>
            </a:avLst>
          </a:prstGeom>
          <a:solidFill>
            <a:srgbClr val="FFFFFF"/>
          </a:solidFill>
          <a:ln w="14288">
            <a:solidFill>
              <a:srgbClr val="D8D4D4"/>
            </a:solidFill>
            <a:prstDash val="solid"/>
          </a:ln>
        </p:spPr>
      </p:sp>
      <p:sp>
        <p:nvSpPr>
          <p:cNvPr id="9" name="Text 7"/>
          <p:cNvSpPr/>
          <p:nvPr/>
        </p:nvSpPr>
        <p:spPr>
          <a:xfrm>
            <a:off x="4840560" y="1893763"/>
            <a:ext cx="1405161" cy="175617"/>
          </a:xfrm>
          <a:prstGeom prst="rect">
            <a:avLst/>
          </a:prstGeom>
          <a:noFill/>
          <a:ln/>
        </p:spPr>
        <p:txBody>
          <a:bodyPr wrap="none" lIns="0" tIns="0" rIns="0" bIns="0" rtlCol="0" anchor="t"/>
          <a:lstStyle/>
          <a:p>
            <a:pPr algn="l" indent="0" marL="0">
              <a:lnSpc>
                <a:spcPct val="104000"/>
              </a:lnSpc>
              <a:buNone/>
            </a:pPr>
            <a:r>
              <a:rPr lang="en-US" sz="1100" dirty="0">
                <a:solidFill>
                  <a:srgbClr val="504C49"/>
                </a:solidFill>
                <a:latin typeface="Platypi Medium" pitchFamily="34" charset="0"/>
                <a:ea typeface="Platypi Medium" pitchFamily="34" charset="-122"/>
                <a:cs typeface="Platypi Medium" pitchFamily="34" charset="-120"/>
              </a:rPr>
              <a:t>Technical</a:t>
            </a:r>
            <a:endParaRPr lang="en-US" sz="1100" dirty="0"/>
          </a:p>
        </p:txBody>
      </p:sp>
      <p:sp>
        <p:nvSpPr>
          <p:cNvPr id="10" name="Text 8"/>
          <p:cNvSpPr/>
          <p:nvPr/>
        </p:nvSpPr>
        <p:spPr>
          <a:xfrm>
            <a:off x="4840560" y="2171254"/>
            <a:ext cx="1665089" cy="51435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504C49"/>
                </a:solidFill>
                <a:latin typeface="Source Serif 4" pitchFamily="34" charset="0"/>
                <a:ea typeface="Source Serif 4" pitchFamily="34" charset="-122"/>
                <a:cs typeface="Source Serif 4" pitchFamily="34" charset="-120"/>
              </a:rPr>
              <a:t>Open-source stack: React.js, FastAPI, PostgreSQL, Scikit-learn, Git</a:t>
            </a:r>
            <a:endParaRPr lang="en-US" sz="850" dirty="0"/>
          </a:p>
        </p:txBody>
      </p:sp>
      <p:sp>
        <p:nvSpPr>
          <p:cNvPr id="11" name="Shape 9"/>
          <p:cNvSpPr/>
          <p:nvPr/>
        </p:nvSpPr>
        <p:spPr>
          <a:xfrm>
            <a:off x="6734175" y="1767111"/>
            <a:ext cx="1918469" cy="1045146"/>
          </a:xfrm>
          <a:prstGeom prst="roundRect">
            <a:avLst>
              <a:gd name="adj" fmla="val 1613"/>
            </a:avLst>
          </a:prstGeom>
          <a:solidFill>
            <a:srgbClr val="FFFFFF"/>
          </a:solidFill>
          <a:ln w="14288">
            <a:solidFill>
              <a:srgbClr val="D8D4D4"/>
            </a:solidFill>
            <a:prstDash val="solid"/>
          </a:ln>
        </p:spPr>
      </p:sp>
      <p:sp>
        <p:nvSpPr>
          <p:cNvPr id="12" name="Text 10"/>
          <p:cNvSpPr/>
          <p:nvPr/>
        </p:nvSpPr>
        <p:spPr>
          <a:xfrm>
            <a:off x="6860828" y="1893763"/>
            <a:ext cx="1405161" cy="175617"/>
          </a:xfrm>
          <a:prstGeom prst="rect">
            <a:avLst/>
          </a:prstGeom>
          <a:noFill/>
          <a:ln/>
        </p:spPr>
        <p:txBody>
          <a:bodyPr wrap="none" lIns="0" tIns="0" rIns="0" bIns="0" rtlCol="0" anchor="t"/>
          <a:lstStyle/>
          <a:p>
            <a:pPr algn="l" indent="0" marL="0">
              <a:lnSpc>
                <a:spcPct val="104000"/>
              </a:lnSpc>
              <a:buNone/>
            </a:pPr>
            <a:r>
              <a:rPr lang="en-US" sz="1100" dirty="0">
                <a:solidFill>
                  <a:srgbClr val="504C49"/>
                </a:solidFill>
                <a:latin typeface="Platypi Medium" pitchFamily="34" charset="0"/>
                <a:ea typeface="Platypi Medium" pitchFamily="34" charset="-122"/>
                <a:cs typeface="Platypi Medium" pitchFamily="34" charset="-120"/>
              </a:rPr>
              <a:t>Economic</a:t>
            </a:r>
            <a:endParaRPr lang="en-US" sz="1100" dirty="0"/>
          </a:p>
        </p:txBody>
      </p:sp>
      <p:sp>
        <p:nvSpPr>
          <p:cNvPr id="13" name="Text 11"/>
          <p:cNvSpPr/>
          <p:nvPr/>
        </p:nvSpPr>
        <p:spPr>
          <a:xfrm>
            <a:off x="6860828" y="2171254"/>
            <a:ext cx="1665163" cy="34290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504C49"/>
                </a:solidFill>
                <a:latin typeface="Source Serif 4" pitchFamily="34" charset="0"/>
                <a:ea typeface="Source Serif 4" pitchFamily="34" charset="-122"/>
                <a:cs typeface="Source Serif 4" pitchFamily="34" charset="-120"/>
              </a:rPr>
              <a:t>Zero licensing cost; all tools are open-source</a:t>
            </a:r>
            <a:endParaRPr lang="en-US" sz="850" dirty="0"/>
          </a:p>
        </p:txBody>
      </p:sp>
      <p:sp>
        <p:nvSpPr>
          <p:cNvPr id="14" name="Shape 12"/>
          <p:cNvSpPr/>
          <p:nvPr/>
        </p:nvSpPr>
        <p:spPr>
          <a:xfrm>
            <a:off x="4713908" y="2914129"/>
            <a:ext cx="1918395" cy="1045146"/>
          </a:xfrm>
          <a:prstGeom prst="roundRect">
            <a:avLst>
              <a:gd name="adj" fmla="val 1613"/>
            </a:avLst>
          </a:prstGeom>
          <a:solidFill>
            <a:srgbClr val="FFFFFF"/>
          </a:solidFill>
          <a:ln w="14288">
            <a:solidFill>
              <a:srgbClr val="D8D4D4"/>
            </a:solidFill>
            <a:prstDash val="solid"/>
          </a:ln>
        </p:spPr>
      </p:sp>
      <p:sp>
        <p:nvSpPr>
          <p:cNvPr id="15" name="Text 13"/>
          <p:cNvSpPr/>
          <p:nvPr/>
        </p:nvSpPr>
        <p:spPr>
          <a:xfrm>
            <a:off x="4840560" y="3040782"/>
            <a:ext cx="1405161" cy="175617"/>
          </a:xfrm>
          <a:prstGeom prst="rect">
            <a:avLst/>
          </a:prstGeom>
          <a:noFill/>
          <a:ln/>
        </p:spPr>
        <p:txBody>
          <a:bodyPr wrap="none" lIns="0" tIns="0" rIns="0" bIns="0" rtlCol="0" anchor="t"/>
          <a:lstStyle/>
          <a:p>
            <a:pPr algn="l" indent="0" marL="0">
              <a:lnSpc>
                <a:spcPct val="104000"/>
              </a:lnSpc>
              <a:buNone/>
            </a:pPr>
            <a:r>
              <a:rPr lang="en-US" sz="1100" dirty="0">
                <a:solidFill>
                  <a:srgbClr val="504C49"/>
                </a:solidFill>
                <a:latin typeface="Platypi Medium" pitchFamily="34" charset="0"/>
                <a:ea typeface="Platypi Medium" pitchFamily="34" charset="-122"/>
                <a:cs typeface="Platypi Medium" pitchFamily="34" charset="-120"/>
              </a:rPr>
              <a:t>Operational</a:t>
            </a:r>
            <a:endParaRPr lang="en-US" sz="1100" dirty="0"/>
          </a:p>
        </p:txBody>
      </p:sp>
      <p:sp>
        <p:nvSpPr>
          <p:cNvPr id="16" name="Text 14"/>
          <p:cNvSpPr/>
          <p:nvPr/>
        </p:nvSpPr>
        <p:spPr>
          <a:xfrm>
            <a:off x="4840560" y="3318272"/>
            <a:ext cx="1665089" cy="34290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504C49"/>
                </a:solidFill>
                <a:latin typeface="Source Serif 4" pitchFamily="34" charset="0"/>
                <a:ea typeface="Source Serif 4" pitchFamily="34" charset="-122"/>
                <a:cs typeface="Source Serif 4" pitchFamily="34" charset="-120"/>
              </a:rPr>
              <a:t>Intuitive UI; minimal training required</a:t>
            </a:r>
            <a:endParaRPr lang="en-US" sz="850" dirty="0"/>
          </a:p>
        </p:txBody>
      </p:sp>
      <p:sp>
        <p:nvSpPr>
          <p:cNvPr id="17" name="Shape 15"/>
          <p:cNvSpPr/>
          <p:nvPr/>
        </p:nvSpPr>
        <p:spPr>
          <a:xfrm>
            <a:off x="6734175" y="2914129"/>
            <a:ext cx="1918469" cy="1045146"/>
          </a:xfrm>
          <a:prstGeom prst="roundRect">
            <a:avLst>
              <a:gd name="adj" fmla="val 1613"/>
            </a:avLst>
          </a:prstGeom>
          <a:solidFill>
            <a:srgbClr val="FFFFFF"/>
          </a:solidFill>
          <a:ln w="14288">
            <a:solidFill>
              <a:srgbClr val="D8D4D4"/>
            </a:solidFill>
            <a:prstDash val="solid"/>
          </a:ln>
        </p:spPr>
      </p:sp>
      <p:sp>
        <p:nvSpPr>
          <p:cNvPr id="18" name="Text 16"/>
          <p:cNvSpPr/>
          <p:nvPr/>
        </p:nvSpPr>
        <p:spPr>
          <a:xfrm>
            <a:off x="6860828" y="3040782"/>
            <a:ext cx="1405161" cy="175617"/>
          </a:xfrm>
          <a:prstGeom prst="rect">
            <a:avLst/>
          </a:prstGeom>
          <a:noFill/>
          <a:ln/>
        </p:spPr>
        <p:txBody>
          <a:bodyPr wrap="none" lIns="0" tIns="0" rIns="0" bIns="0" rtlCol="0" anchor="t"/>
          <a:lstStyle/>
          <a:p>
            <a:pPr algn="l" indent="0" marL="0">
              <a:lnSpc>
                <a:spcPct val="104000"/>
              </a:lnSpc>
              <a:buNone/>
            </a:pPr>
            <a:r>
              <a:rPr lang="en-US" sz="1100" dirty="0">
                <a:solidFill>
                  <a:srgbClr val="504C49"/>
                </a:solidFill>
                <a:latin typeface="Platypi Medium" pitchFamily="34" charset="0"/>
                <a:ea typeface="Platypi Medium" pitchFamily="34" charset="-122"/>
                <a:cs typeface="Platypi Medium" pitchFamily="34" charset="-120"/>
              </a:rPr>
              <a:t>Schedule</a:t>
            </a:r>
            <a:endParaRPr lang="en-US" sz="1100" dirty="0"/>
          </a:p>
        </p:txBody>
      </p:sp>
      <p:sp>
        <p:nvSpPr>
          <p:cNvPr id="19" name="Text 17"/>
          <p:cNvSpPr/>
          <p:nvPr/>
        </p:nvSpPr>
        <p:spPr>
          <a:xfrm>
            <a:off x="6860828" y="3318272"/>
            <a:ext cx="1665163" cy="51435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504C49"/>
                </a:solidFill>
                <a:latin typeface="Source Serif 4" pitchFamily="34" charset="0"/>
                <a:ea typeface="Source Serif 4" pitchFamily="34" charset="-122"/>
                <a:cs typeface="Source Serif 4" pitchFamily="34" charset="-120"/>
              </a:rPr>
              <a:t>8 phases from requirements to documentation within academic timeline</a:t>
            </a:r>
            <a:endParaRPr lang="en-US" sz="850" dirty="0"/>
          </a:p>
        </p:txBody>
      </p:sp>
      <p:sp>
        <p:nvSpPr>
          <p:cNvPr id="20" name="Shape 18"/>
          <p:cNvSpPr/>
          <p:nvPr/>
        </p:nvSpPr>
        <p:spPr>
          <a:xfrm>
            <a:off x="496119" y="4188470"/>
            <a:ext cx="8151763" cy="592559"/>
          </a:xfrm>
          <a:prstGeom prst="roundRect">
            <a:avLst>
              <a:gd name="adj" fmla="val 2846"/>
            </a:avLst>
          </a:prstGeom>
          <a:solidFill>
            <a:srgbClr val="F3E3D8"/>
          </a:solidFill>
          <a:ln/>
        </p:spPr>
      </p:sp>
      <p:pic>
        <p:nvPicPr>
          <p:cNvPr id="21" name="Image 0" descr="preencoded.png">    </p:cNvPr>
          <p:cNvPicPr>
            <a:picLocks noChangeAspect="1"/>
          </p:cNvPicPr>
          <p:nvPr/>
        </p:nvPicPr>
        <p:blipFill>
          <a:blip r:embed="rId1"/>
          <a:stretch>
            <a:fillRect/>
          </a:stretch>
        </p:blipFill>
        <p:spPr>
          <a:xfrm>
            <a:off x="608484" y="4344814"/>
            <a:ext cx="140494" cy="112365"/>
          </a:xfrm>
          <a:prstGeom prst="rect">
            <a:avLst/>
          </a:prstGeom>
        </p:spPr>
      </p:pic>
      <p:sp>
        <p:nvSpPr>
          <p:cNvPr id="22" name="Text 19"/>
          <p:cNvSpPr/>
          <p:nvPr/>
        </p:nvSpPr>
        <p:spPr>
          <a:xfrm>
            <a:off x="861343" y="4318397"/>
            <a:ext cx="7674173" cy="342900"/>
          </a:xfrm>
          <a:prstGeom prst="rect">
            <a:avLst/>
          </a:prstGeom>
          <a:noFill/>
          <a:ln/>
        </p:spPr>
        <p:txBody>
          <a:bodyPr wrap="square" lIns="0" tIns="0" rIns="0" bIns="0" rtlCol="0" anchor="t">
            <a:normAutofit/>
          </a:bodyPr>
          <a:lstStyle/>
          <a:p>
            <a:pPr algn="l" indent="0" marL="0">
              <a:lnSpc>
                <a:spcPct val="127000"/>
              </a:lnSpc>
              <a:buNone/>
            </a:pPr>
            <a:r>
              <a:rPr lang="en-US" sz="850" b="1" dirty="0">
                <a:solidFill>
                  <a:srgbClr val="000000"/>
                </a:solidFill>
                <a:latin typeface="Source Serif 4 Bold" pitchFamily="34" charset="0"/>
                <a:ea typeface="Source Serif 4 Bold" pitchFamily="34" charset="-122"/>
                <a:cs typeface="Source Serif 4 Bold" pitchFamily="34" charset="-120"/>
              </a:rPr>
              <a:t>Risk Mitigation:</a:t>
            </a:r>
            <a:pPr algn="l" indent="0" marL="0">
              <a:lnSpc>
                <a:spcPct val="127000"/>
              </a:lnSpc>
              <a:buNone/>
            </a:pPr>
            <a:r>
              <a:rPr lang="en-US" sz="850" dirty="0">
                <a:solidFill>
                  <a:srgbClr val="000000"/>
                </a:solidFill>
                <a:latin typeface="Source Serif 4" pitchFamily="34" charset="0"/>
                <a:ea typeface="Source Serif 4" pitchFamily="34" charset="-122"/>
                <a:cs typeface="Source Serif 4" pitchFamily="34" charset="-120"/>
              </a:rPr>
              <a:t> Poor datasets → data cleaning; model overfitting → cross-validation; unauthorized access → JWT, RBAC, HTTPS; database failure → regular backups.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341114"/>
            <a:ext cx="3427884" cy="193849"/>
          </a:xfrm>
          <a:prstGeom prst="rect">
            <a:avLst/>
          </a:prstGeom>
          <a:noFill/>
          <a:ln/>
        </p:spPr>
        <p:txBody>
          <a:bodyPr wrap="none" lIns="0" tIns="0" rIns="0" bIns="0" rtlCol="0" anchor="t"/>
          <a:lstStyle/>
          <a:p>
            <a:pPr algn="l" indent="0" marL="0">
              <a:lnSpc>
                <a:spcPct val="104000"/>
              </a:lnSpc>
              <a:buNone/>
            </a:pPr>
            <a:r>
              <a:rPr lang="en-US" sz="1200" dirty="0">
                <a:solidFill>
                  <a:srgbClr val="201B18"/>
                </a:solidFill>
                <a:latin typeface="Platypi Medium" pitchFamily="34" charset="0"/>
                <a:ea typeface="Platypi Medium" pitchFamily="34" charset="-122"/>
                <a:cs typeface="Platypi Medium" pitchFamily="34" charset="-120"/>
              </a:rPr>
              <a:t>Chapters 5 &amp; 6: SDLC &amp; System Design</a:t>
            </a:r>
            <a:endParaRPr lang="en-US" sz="1200" dirty="0"/>
          </a:p>
        </p:txBody>
      </p:sp>
      <p:sp>
        <p:nvSpPr>
          <p:cNvPr id="3" name="Text 1"/>
          <p:cNvSpPr/>
          <p:nvPr/>
        </p:nvSpPr>
        <p:spPr>
          <a:xfrm>
            <a:off x="496119" y="596950"/>
            <a:ext cx="8608963" cy="74340"/>
          </a:xfrm>
          <a:prstGeom prst="rect">
            <a:avLst/>
          </a:prstGeom>
          <a:noFill/>
          <a:ln/>
        </p:spPr>
        <p:txBody>
          <a:bodyPr wrap="none" lIns="0" tIns="0" rIns="0" bIns="0" rtlCol="0" anchor="t"/>
          <a:lstStyle/>
          <a:p>
            <a:pPr algn="l" indent="0" marL="0">
              <a:lnSpc>
                <a:spcPct val="100000"/>
              </a:lnSpc>
              <a:buNone/>
            </a:pPr>
            <a:r>
              <a:rPr lang="en-US" sz="450" dirty="0">
                <a:solidFill>
                  <a:srgbClr val="504C49"/>
                </a:solidFill>
                <a:latin typeface="Source Serif 4" pitchFamily="34" charset="0"/>
                <a:ea typeface="Source Serif 4" pitchFamily="34" charset="-122"/>
                <a:cs typeface="Source Serif 4" pitchFamily="34" charset="-120"/>
              </a:rPr>
              <a:t>The project follows the </a:t>
            </a:r>
            <a:pPr algn="l" indent="0" marL="0">
              <a:lnSpc>
                <a:spcPct val="100000"/>
              </a:lnSpc>
              <a:buNone/>
            </a:pPr>
            <a:r>
              <a:rPr lang="en-US" sz="450" b="1" dirty="0">
                <a:solidFill>
                  <a:srgbClr val="504C49"/>
                </a:solidFill>
                <a:latin typeface="Source Serif 4 Bold" pitchFamily="34" charset="0"/>
                <a:ea typeface="Source Serif 4 Bold" pitchFamily="34" charset="-122"/>
                <a:cs typeface="Source Serif 4 Bold" pitchFamily="34" charset="-120"/>
              </a:rPr>
              <a:t>Agile SDLC model</a:t>
            </a:r>
            <a:pPr algn="l" indent="0" marL="0">
              <a:lnSpc>
                <a:spcPct val="100000"/>
              </a:lnSpc>
              <a:buNone/>
            </a:pPr>
            <a:r>
              <a:rPr lang="en-US" sz="450" dirty="0">
                <a:solidFill>
                  <a:srgbClr val="504C49"/>
                </a:solidFill>
                <a:latin typeface="Source Serif 4" pitchFamily="34" charset="0"/>
                <a:ea typeface="Source Serif 4" pitchFamily="34" charset="-122"/>
                <a:cs typeface="Source Serif 4" pitchFamily="34" charset="-120"/>
              </a:rPr>
              <a:t>, enabling incremental development, continuous testing, and iterative improvements across authentication, employee management, dashboards, and ML modules.</a:t>
            </a:r>
            <a:endParaRPr lang="en-US" sz="450" dirty="0"/>
          </a:p>
        </p:txBody>
      </p:sp>
      <p:pic>
        <p:nvPicPr>
          <p:cNvPr id="4" name="Image 0" descr="preencoded.png">    </p:cNvPr>
          <p:cNvPicPr>
            <a:picLocks noChangeAspect="1"/>
          </p:cNvPicPr>
          <p:nvPr/>
        </p:nvPicPr>
        <p:blipFill>
          <a:blip r:embed="rId1"/>
          <a:stretch>
            <a:fillRect/>
          </a:stretch>
        </p:blipFill>
        <p:spPr>
          <a:xfrm>
            <a:off x="638324" y="706115"/>
            <a:ext cx="7867352" cy="3845570"/>
          </a:xfrm>
          <a:prstGeom prst="rect">
            <a:avLst/>
          </a:prstGeom>
        </p:spPr>
      </p:pic>
      <p:sp>
        <p:nvSpPr>
          <p:cNvPr id="5" name="Text 2"/>
          <p:cNvSpPr/>
          <p:nvPr/>
        </p:nvSpPr>
        <p:spPr>
          <a:xfrm>
            <a:off x="1233942" y="2029246"/>
            <a:ext cx="1834107" cy="229263"/>
          </a:xfrm>
          <a:prstGeom prst="rect">
            <a:avLst/>
          </a:prstGeom>
          <a:noFill/>
          <a:ln/>
        </p:spPr>
        <p:txBody>
          <a:bodyPr wrap="none" lIns="0" tIns="0" rIns="0" bIns="0" rtlCol="0" anchor="t"/>
          <a:lstStyle/>
          <a:p>
            <a:pPr algn="ctr" indent="0" marL="0">
              <a:lnSpc>
                <a:spcPct val="104000"/>
              </a:lnSpc>
              <a:buNone/>
            </a:pPr>
            <a:r>
              <a:rPr lang="en-US" sz="1400" dirty="0">
                <a:solidFill>
                  <a:srgbClr val="504C49"/>
                </a:solidFill>
                <a:latin typeface="Platypi Medium" pitchFamily="34" charset="0"/>
                <a:ea typeface="Platypi Medium" pitchFamily="34" charset="-122"/>
                <a:cs typeface="Platypi Medium" pitchFamily="34" charset="-120"/>
              </a:rPr>
              <a:t>Analysis &amp; Design</a:t>
            </a:r>
            <a:endParaRPr lang="en-US" sz="1400" dirty="0"/>
          </a:p>
        </p:txBody>
      </p:sp>
      <p:sp>
        <p:nvSpPr>
          <p:cNvPr id="6" name="Text 3"/>
          <p:cNvSpPr/>
          <p:nvPr/>
        </p:nvSpPr>
        <p:spPr>
          <a:xfrm>
            <a:off x="5171158" y="1148875"/>
            <a:ext cx="1834107" cy="229263"/>
          </a:xfrm>
          <a:prstGeom prst="rect">
            <a:avLst/>
          </a:prstGeom>
          <a:noFill/>
          <a:ln/>
        </p:spPr>
        <p:txBody>
          <a:bodyPr wrap="none" lIns="0" tIns="0" rIns="0" bIns="0" rtlCol="0" anchor="t"/>
          <a:lstStyle/>
          <a:p>
            <a:pPr algn="ctr" indent="0" marL="0">
              <a:lnSpc>
                <a:spcPct val="104000"/>
              </a:lnSpc>
              <a:buNone/>
            </a:pPr>
            <a:r>
              <a:rPr lang="en-US" sz="1400" dirty="0">
                <a:solidFill>
                  <a:srgbClr val="504C49"/>
                </a:solidFill>
                <a:latin typeface="Platypi Medium" pitchFamily="34" charset="0"/>
                <a:ea typeface="Platypi Medium" pitchFamily="34" charset="-122"/>
                <a:cs typeface="Platypi Medium" pitchFamily="34" charset="-120"/>
              </a:rPr>
              <a:t>Implementation</a:t>
            </a:r>
            <a:endParaRPr lang="en-US" sz="1400" dirty="0"/>
          </a:p>
        </p:txBody>
      </p:sp>
      <p:sp>
        <p:nvSpPr>
          <p:cNvPr id="7" name="Text 4"/>
          <p:cNvSpPr/>
          <p:nvPr/>
        </p:nvSpPr>
        <p:spPr>
          <a:xfrm>
            <a:off x="6075856" y="2958528"/>
            <a:ext cx="1834107" cy="229263"/>
          </a:xfrm>
          <a:prstGeom prst="rect">
            <a:avLst/>
          </a:prstGeom>
          <a:noFill/>
          <a:ln/>
        </p:spPr>
        <p:txBody>
          <a:bodyPr wrap="none" lIns="0" tIns="0" rIns="0" bIns="0" rtlCol="0" anchor="t"/>
          <a:lstStyle/>
          <a:p>
            <a:pPr algn="ctr" indent="0" marL="0">
              <a:lnSpc>
                <a:spcPct val="104000"/>
              </a:lnSpc>
              <a:buNone/>
            </a:pPr>
            <a:r>
              <a:rPr lang="en-US" sz="1400" dirty="0">
                <a:solidFill>
                  <a:srgbClr val="504C49"/>
                </a:solidFill>
                <a:latin typeface="Platypi Medium" pitchFamily="34" charset="0"/>
                <a:ea typeface="Platypi Medium" pitchFamily="34" charset="-122"/>
                <a:cs typeface="Platypi Medium" pitchFamily="34" charset="-120"/>
              </a:rPr>
              <a:t>Testing</a:t>
            </a:r>
            <a:endParaRPr lang="en-US" sz="1400" dirty="0"/>
          </a:p>
        </p:txBody>
      </p:sp>
      <p:sp>
        <p:nvSpPr>
          <p:cNvPr id="8" name="Text 5"/>
          <p:cNvSpPr/>
          <p:nvPr/>
        </p:nvSpPr>
        <p:spPr>
          <a:xfrm>
            <a:off x="2130616" y="3855202"/>
            <a:ext cx="1834107" cy="229263"/>
          </a:xfrm>
          <a:prstGeom prst="rect">
            <a:avLst/>
          </a:prstGeom>
          <a:noFill/>
          <a:ln/>
        </p:spPr>
        <p:txBody>
          <a:bodyPr wrap="none" lIns="0" tIns="0" rIns="0" bIns="0" rtlCol="0" anchor="t"/>
          <a:lstStyle/>
          <a:p>
            <a:pPr algn="ctr" indent="0" marL="0">
              <a:lnSpc>
                <a:spcPct val="104000"/>
              </a:lnSpc>
              <a:buNone/>
            </a:pPr>
            <a:r>
              <a:rPr lang="en-US" sz="1400" dirty="0">
                <a:solidFill>
                  <a:srgbClr val="504C49"/>
                </a:solidFill>
                <a:latin typeface="Platypi Medium" pitchFamily="34" charset="0"/>
                <a:ea typeface="Platypi Medium" pitchFamily="34" charset="-122"/>
                <a:cs typeface="Platypi Medium" pitchFamily="34" charset="-120"/>
              </a:rPr>
              <a:t>Deploy &amp; Maintain</a:t>
            </a:r>
            <a:endParaRPr lang="en-US" sz="1400" dirty="0"/>
          </a:p>
        </p:txBody>
      </p:sp>
      <p:sp>
        <p:nvSpPr>
          <p:cNvPr id="9" name="Text 6"/>
          <p:cNvSpPr/>
          <p:nvPr/>
        </p:nvSpPr>
        <p:spPr>
          <a:xfrm>
            <a:off x="496119" y="4586511"/>
            <a:ext cx="8608963" cy="74340"/>
          </a:xfrm>
          <a:prstGeom prst="rect">
            <a:avLst/>
          </a:prstGeom>
          <a:noFill/>
          <a:ln/>
        </p:spPr>
        <p:txBody>
          <a:bodyPr wrap="none" lIns="0" tIns="0" rIns="0" bIns="0" rtlCol="0" anchor="t"/>
          <a:lstStyle/>
          <a:p>
            <a:pPr algn="l" indent="0" marL="0">
              <a:lnSpc>
                <a:spcPct val="100000"/>
              </a:lnSpc>
              <a:buNone/>
            </a:pPr>
            <a:r>
              <a:rPr lang="en-US" sz="450" dirty="0">
                <a:solidFill>
                  <a:srgbClr val="504C49"/>
                </a:solidFill>
                <a:latin typeface="Source Serif 4" pitchFamily="34" charset="0"/>
                <a:ea typeface="Source Serif 4" pitchFamily="34" charset="-122"/>
                <a:cs typeface="Source Serif 4" pitchFamily="34" charset="-120"/>
              </a:rPr>
              <a:t>Agile was chosen over Waterfall for its flexibility with requirement changes, continuous feedback, and reduced project risk. Each sprint delivers a validated module independently.</a:t>
            </a:r>
            <a:endParaRPr lang="en-US" sz="450" dirty="0"/>
          </a:p>
        </p:txBody>
      </p:sp>
      <p:sp>
        <p:nvSpPr>
          <p:cNvPr id="10" name="Text 7"/>
          <p:cNvSpPr/>
          <p:nvPr/>
        </p:nvSpPr>
        <p:spPr>
          <a:xfrm>
            <a:off x="496119" y="4726632"/>
            <a:ext cx="1503536" cy="96887"/>
          </a:xfrm>
          <a:prstGeom prst="rect">
            <a:avLst/>
          </a:prstGeom>
          <a:noFill/>
          <a:ln/>
        </p:spPr>
        <p:txBody>
          <a:bodyPr wrap="none" lIns="0" tIns="0" rIns="0" bIns="0" rtlCol="0" anchor="t"/>
          <a:lstStyle/>
          <a:p>
            <a:pPr algn="l" indent="0" marL="0">
              <a:lnSpc>
                <a:spcPct val="104000"/>
              </a:lnSpc>
              <a:buNone/>
            </a:pPr>
            <a:r>
              <a:rPr lang="en-US" sz="600" dirty="0">
                <a:solidFill>
                  <a:srgbClr val="201B18"/>
                </a:solidFill>
                <a:latin typeface="Platypi Medium" pitchFamily="34" charset="0"/>
                <a:ea typeface="Platypi Medium" pitchFamily="34" charset="-122"/>
                <a:cs typeface="Platypi Medium" pitchFamily="34" charset="-120"/>
              </a:rPr>
              <a:t>System Architecture Layers</a:t>
            </a:r>
            <a:endParaRPr lang="en-US" sz="600" dirty="0"/>
          </a:p>
        </p:txBody>
      </p:sp>
      <p:sp>
        <p:nvSpPr>
          <p:cNvPr id="11" name="Text 8"/>
          <p:cNvSpPr/>
          <p:nvPr/>
        </p:nvSpPr>
        <p:spPr>
          <a:xfrm>
            <a:off x="496119" y="4858345"/>
            <a:ext cx="123974" cy="77465"/>
          </a:xfrm>
          <a:prstGeom prst="rect">
            <a:avLst/>
          </a:prstGeom>
          <a:noFill/>
          <a:ln/>
        </p:spPr>
        <p:txBody>
          <a:bodyPr wrap="none" lIns="0" tIns="0" rIns="0" bIns="0" rtlCol="0" anchor="ctr"/>
          <a:lstStyle/>
          <a:p>
            <a:pPr algn="l" indent="0" marL="0">
              <a:lnSpc>
                <a:spcPct val="100000"/>
              </a:lnSpc>
              <a:buNone/>
            </a:pPr>
            <a:r>
              <a:rPr lang="en-US" sz="450" dirty="0">
                <a:solidFill>
                  <a:srgbClr val="504C49"/>
                </a:solidFill>
                <a:latin typeface="Platypi Light" pitchFamily="34" charset="0"/>
                <a:ea typeface="Platypi Light" pitchFamily="34" charset="-122"/>
                <a:cs typeface="Platypi Light" pitchFamily="34" charset="-120"/>
              </a:rPr>
              <a:t>01</a:t>
            </a:r>
            <a:endParaRPr lang="en-US" sz="450" dirty="0"/>
          </a:p>
        </p:txBody>
      </p:sp>
      <p:sp>
        <p:nvSpPr>
          <p:cNvPr id="12" name="Shape 9"/>
          <p:cNvSpPr/>
          <p:nvPr/>
        </p:nvSpPr>
        <p:spPr>
          <a:xfrm>
            <a:off x="496119" y="4954116"/>
            <a:ext cx="4000277" cy="9525"/>
          </a:xfrm>
          <a:prstGeom prst="rect">
            <a:avLst/>
          </a:prstGeom>
          <a:solidFill>
            <a:srgbClr val="3E2513"/>
          </a:solidFill>
          <a:ln/>
        </p:spPr>
      </p:sp>
      <p:sp>
        <p:nvSpPr>
          <p:cNvPr id="13" name="Text 10"/>
          <p:cNvSpPr/>
          <p:nvPr/>
        </p:nvSpPr>
        <p:spPr>
          <a:xfrm>
            <a:off x="496119" y="5004122"/>
            <a:ext cx="775246" cy="96887"/>
          </a:xfrm>
          <a:prstGeom prst="rect">
            <a:avLst/>
          </a:prstGeom>
          <a:noFill/>
          <a:ln/>
        </p:spPr>
        <p:txBody>
          <a:bodyPr wrap="none" lIns="0" tIns="0" rIns="0" bIns="0" rtlCol="0" anchor="t"/>
          <a:lstStyle/>
          <a:p>
            <a:pPr algn="l" indent="0" marL="0">
              <a:lnSpc>
                <a:spcPct val="104000"/>
              </a:lnSpc>
              <a:buNone/>
            </a:pPr>
            <a:r>
              <a:rPr lang="en-US" sz="600" dirty="0">
                <a:solidFill>
                  <a:srgbClr val="504C49"/>
                </a:solidFill>
                <a:latin typeface="Platypi Medium" pitchFamily="34" charset="0"/>
                <a:ea typeface="Platypi Medium" pitchFamily="34" charset="-122"/>
                <a:cs typeface="Platypi Medium" pitchFamily="34" charset="-120"/>
              </a:rPr>
              <a:t>Presentation Layer</a:t>
            </a:r>
            <a:endParaRPr lang="en-US" sz="600" dirty="0"/>
          </a:p>
        </p:txBody>
      </p:sp>
      <p:sp>
        <p:nvSpPr>
          <p:cNvPr id="14" name="Text 11"/>
          <p:cNvSpPr/>
          <p:nvPr/>
        </p:nvSpPr>
        <p:spPr>
          <a:xfrm>
            <a:off x="496119" y="5131966"/>
            <a:ext cx="4000277" cy="74340"/>
          </a:xfrm>
          <a:prstGeom prst="rect">
            <a:avLst/>
          </a:prstGeom>
          <a:noFill/>
          <a:ln/>
        </p:spPr>
        <p:txBody>
          <a:bodyPr wrap="none" lIns="0" tIns="0" rIns="0" bIns="0" rtlCol="0" anchor="t"/>
          <a:lstStyle/>
          <a:p>
            <a:pPr algn="l" indent="0" marL="0">
              <a:lnSpc>
                <a:spcPct val="100000"/>
              </a:lnSpc>
              <a:buNone/>
            </a:pPr>
            <a:r>
              <a:rPr lang="en-US" sz="450" dirty="0">
                <a:solidFill>
                  <a:srgbClr val="504C49"/>
                </a:solidFill>
                <a:latin typeface="Source Serif 4" pitchFamily="34" charset="0"/>
                <a:ea typeface="Source Serif 4" pitchFamily="34" charset="-122"/>
                <a:cs typeface="Source Serif 4" pitchFamily="34" charset="-120"/>
              </a:rPr>
              <a:t>React.js user interface</a:t>
            </a:r>
            <a:endParaRPr lang="en-US" sz="450" dirty="0"/>
          </a:p>
        </p:txBody>
      </p:sp>
      <p:sp>
        <p:nvSpPr>
          <p:cNvPr id="15" name="Text 12"/>
          <p:cNvSpPr/>
          <p:nvPr/>
        </p:nvSpPr>
        <p:spPr>
          <a:xfrm>
            <a:off x="496119" y="5283771"/>
            <a:ext cx="123974" cy="77465"/>
          </a:xfrm>
          <a:prstGeom prst="rect">
            <a:avLst/>
          </a:prstGeom>
          <a:noFill/>
          <a:ln/>
        </p:spPr>
        <p:txBody>
          <a:bodyPr wrap="none" lIns="0" tIns="0" rIns="0" bIns="0" rtlCol="0" anchor="ctr"/>
          <a:lstStyle/>
          <a:p>
            <a:pPr algn="l" indent="0" marL="0">
              <a:lnSpc>
                <a:spcPct val="100000"/>
              </a:lnSpc>
              <a:buNone/>
            </a:pPr>
            <a:r>
              <a:rPr lang="en-US" sz="450" dirty="0">
                <a:solidFill>
                  <a:srgbClr val="504C49"/>
                </a:solidFill>
                <a:latin typeface="Platypi Light" pitchFamily="34" charset="0"/>
                <a:ea typeface="Platypi Light" pitchFamily="34" charset="-122"/>
                <a:cs typeface="Platypi Light" pitchFamily="34" charset="-120"/>
              </a:rPr>
              <a:t>02</a:t>
            </a:r>
            <a:endParaRPr lang="en-US" sz="450" dirty="0"/>
          </a:p>
        </p:txBody>
      </p:sp>
      <p:sp>
        <p:nvSpPr>
          <p:cNvPr id="16" name="Shape 13"/>
          <p:cNvSpPr/>
          <p:nvPr/>
        </p:nvSpPr>
        <p:spPr>
          <a:xfrm>
            <a:off x="496119" y="5379541"/>
            <a:ext cx="4000277" cy="9525"/>
          </a:xfrm>
          <a:prstGeom prst="rect">
            <a:avLst/>
          </a:prstGeom>
          <a:solidFill>
            <a:srgbClr val="3E2513"/>
          </a:solidFill>
          <a:ln/>
        </p:spPr>
      </p:sp>
      <p:sp>
        <p:nvSpPr>
          <p:cNvPr id="17" name="Text 14"/>
          <p:cNvSpPr/>
          <p:nvPr/>
        </p:nvSpPr>
        <p:spPr>
          <a:xfrm>
            <a:off x="496119" y="5429548"/>
            <a:ext cx="775246" cy="96887"/>
          </a:xfrm>
          <a:prstGeom prst="rect">
            <a:avLst/>
          </a:prstGeom>
          <a:noFill/>
          <a:ln/>
        </p:spPr>
        <p:txBody>
          <a:bodyPr wrap="none" lIns="0" tIns="0" rIns="0" bIns="0" rtlCol="0" anchor="t"/>
          <a:lstStyle/>
          <a:p>
            <a:pPr algn="l" indent="0" marL="0">
              <a:lnSpc>
                <a:spcPct val="104000"/>
              </a:lnSpc>
              <a:buNone/>
            </a:pPr>
            <a:r>
              <a:rPr lang="en-US" sz="600" dirty="0">
                <a:solidFill>
                  <a:srgbClr val="504C49"/>
                </a:solidFill>
                <a:latin typeface="Platypi Medium" pitchFamily="34" charset="0"/>
                <a:ea typeface="Platypi Medium" pitchFamily="34" charset="-122"/>
                <a:cs typeface="Platypi Medium" pitchFamily="34" charset="-120"/>
              </a:rPr>
              <a:t>API Layer</a:t>
            </a:r>
            <a:endParaRPr lang="en-US" sz="600" dirty="0"/>
          </a:p>
        </p:txBody>
      </p:sp>
      <p:sp>
        <p:nvSpPr>
          <p:cNvPr id="18" name="Text 15"/>
          <p:cNvSpPr/>
          <p:nvPr/>
        </p:nvSpPr>
        <p:spPr>
          <a:xfrm>
            <a:off x="496119" y="5557391"/>
            <a:ext cx="4000277" cy="74340"/>
          </a:xfrm>
          <a:prstGeom prst="rect">
            <a:avLst/>
          </a:prstGeom>
          <a:noFill/>
          <a:ln/>
        </p:spPr>
        <p:txBody>
          <a:bodyPr wrap="none" lIns="0" tIns="0" rIns="0" bIns="0" rtlCol="0" anchor="t"/>
          <a:lstStyle/>
          <a:p>
            <a:pPr algn="l" indent="0" marL="0">
              <a:lnSpc>
                <a:spcPct val="100000"/>
              </a:lnSpc>
              <a:buNone/>
            </a:pPr>
            <a:r>
              <a:rPr lang="en-US" sz="450" dirty="0">
                <a:solidFill>
                  <a:srgbClr val="504C49"/>
                </a:solidFill>
                <a:latin typeface="Source Serif 4" pitchFamily="34" charset="0"/>
                <a:ea typeface="Source Serif 4" pitchFamily="34" charset="-122"/>
                <a:cs typeface="Source Serif 4" pitchFamily="34" charset="-120"/>
              </a:rPr>
              <a:t>FastAPI REST services</a:t>
            </a:r>
            <a:endParaRPr lang="en-US" sz="450" dirty="0"/>
          </a:p>
        </p:txBody>
      </p:sp>
      <p:sp>
        <p:nvSpPr>
          <p:cNvPr id="19" name="Text 16"/>
          <p:cNvSpPr/>
          <p:nvPr/>
        </p:nvSpPr>
        <p:spPr>
          <a:xfrm>
            <a:off x="496119" y="5709196"/>
            <a:ext cx="123974" cy="77465"/>
          </a:xfrm>
          <a:prstGeom prst="rect">
            <a:avLst/>
          </a:prstGeom>
          <a:noFill/>
          <a:ln/>
        </p:spPr>
        <p:txBody>
          <a:bodyPr wrap="none" lIns="0" tIns="0" rIns="0" bIns="0" rtlCol="0" anchor="ctr"/>
          <a:lstStyle/>
          <a:p>
            <a:pPr algn="l" indent="0" marL="0">
              <a:lnSpc>
                <a:spcPct val="100000"/>
              </a:lnSpc>
              <a:buNone/>
            </a:pPr>
            <a:r>
              <a:rPr lang="en-US" sz="450" dirty="0">
                <a:solidFill>
                  <a:srgbClr val="504C49"/>
                </a:solidFill>
                <a:latin typeface="Platypi Light" pitchFamily="34" charset="0"/>
                <a:ea typeface="Platypi Light" pitchFamily="34" charset="-122"/>
                <a:cs typeface="Platypi Light" pitchFamily="34" charset="-120"/>
              </a:rPr>
              <a:t>03</a:t>
            </a:r>
            <a:endParaRPr lang="en-US" sz="450" dirty="0"/>
          </a:p>
        </p:txBody>
      </p:sp>
      <p:sp>
        <p:nvSpPr>
          <p:cNvPr id="20" name="Shape 17"/>
          <p:cNvSpPr/>
          <p:nvPr/>
        </p:nvSpPr>
        <p:spPr>
          <a:xfrm>
            <a:off x="496119" y="5804967"/>
            <a:ext cx="4000277" cy="9525"/>
          </a:xfrm>
          <a:prstGeom prst="rect">
            <a:avLst/>
          </a:prstGeom>
          <a:solidFill>
            <a:srgbClr val="3E2513"/>
          </a:solidFill>
          <a:ln/>
        </p:spPr>
      </p:sp>
      <p:sp>
        <p:nvSpPr>
          <p:cNvPr id="21" name="Text 18"/>
          <p:cNvSpPr/>
          <p:nvPr/>
        </p:nvSpPr>
        <p:spPr>
          <a:xfrm>
            <a:off x="496119" y="5854973"/>
            <a:ext cx="789756" cy="96887"/>
          </a:xfrm>
          <a:prstGeom prst="rect">
            <a:avLst/>
          </a:prstGeom>
          <a:noFill/>
          <a:ln/>
        </p:spPr>
        <p:txBody>
          <a:bodyPr wrap="none" lIns="0" tIns="0" rIns="0" bIns="0" rtlCol="0" anchor="t"/>
          <a:lstStyle/>
          <a:p>
            <a:pPr algn="l" indent="0" marL="0">
              <a:lnSpc>
                <a:spcPct val="104000"/>
              </a:lnSpc>
              <a:buNone/>
            </a:pPr>
            <a:r>
              <a:rPr lang="en-US" sz="600" dirty="0">
                <a:solidFill>
                  <a:srgbClr val="504C49"/>
                </a:solidFill>
                <a:latin typeface="Platypi Medium" pitchFamily="34" charset="0"/>
                <a:ea typeface="Platypi Medium" pitchFamily="34" charset="-122"/>
                <a:cs typeface="Platypi Medium" pitchFamily="34" charset="-120"/>
              </a:rPr>
              <a:t>Business Logic Layer</a:t>
            </a:r>
            <a:endParaRPr lang="en-US" sz="600" dirty="0"/>
          </a:p>
        </p:txBody>
      </p:sp>
      <p:sp>
        <p:nvSpPr>
          <p:cNvPr id="22" name="Text 19"/>
          <p:cNvSpPr/>
          <p:nvPr/>
        </p:nvSpPr>
        <p:spPr>
          <a:xfrm>
            <a:off x="496119" y="5982816"/>
            <a:ext cx="4000277" cy="74340"/>
          </a:xfrm>
          <a:prstGeom prst="rect">
            <a:avLst/>
          </a:prstGeom>
          <a:noFill/>
          <a:ln/>
        </p:spPr>
        <p:txBody>
          <a:bodyPr wrap="none" lIns="0" tIns="0" rIns="0" bIns="0" rtlCol="0" anchor="t"/>
          <a:lstStyle/>
          <a:p>
            <a:pPr algn="l" indent="0" marL="0">
              <a:lnSpc>
                <a:spcPct val="100000"/>
              </a:lnSpc>
              <a:buNone/>
            </a:pPr>
            <a:r>
              <a:rPr lang="en-US" sz="450" dirty="0">
                <a:solidFill>
                  <a:srgbClr val="504C49"/>
                </a:solidFill>
                <a:latin typeface="Source Serif 4" pitchFamily="34" charset="0"/>
                <a:ea typeface="Source Serif 4" pitchFamily="34" charset="-122"/>
                <a:cs typeface="Source Serif 4" pitchFamily="34" charset="-120"/>
              </a:rPr>
              <a:t>Core application rules</a:t>
            </a:r>
            <a:endParaRPr lang="en-US" sz="450" dirty="0"/>
          </a:p>
        </p:txBody>
      </p:sp>
      <p:sp>
        <p:nvSpPr>
          <p:cNvPr id="23" name="Text 20"/>
          <p:cNvSpPr/>
          <p:nvPr/>
        </p:nvSpPr>
        <p:spPr>
          <a:xfrm>
            <a:off x="496119" y="6134621"/>
            <a:ext cx="123974" cy="77465"/>
          </a:xfrm>
          <a:prstGeom prst="rect">
            <a:avLst/>
          </a:prstGeom>
          <a:noFill/>
          <a:ln/>
        </p:spPr>
        <p:txBody>
          <a:bodyPr wrap="none" lIns="0" tIns="0" rIns="0" bIns="0" rtlCol="0" anchor="ctr"/>
          <a:lstStyle/>
          <a:p>
            <a:pPr algn="l" indent="0" marL="0">
              <a:lnSpc>
                <a:spcPct val="100000"/>
              </a:lnSpc>
              <a:buNone/>
            </a:pPr>
            <a:r>
              <a:rPr lang="en-US" sz="450" dirty="0">
                <a:solidFill>
                  <a:srgbClr val="504C49"/>
                </a:solidFill>
                <a:latin typeface="Platypi Light" pitchFamily="34" charset="0"/>
                <a:ea typeface="Platypi Light" pitchFamily="34" charset="-122"/>
                <a:cs typeface="Platypi Light" pitchFamily="34" charset="-120"/>
              </a:rPr>
              <a:t>04</a:t>
            </a:r>
            <a:endParaRPr lang="en-US" sz="450" dirty="0"/>
          </a:p>
        </p:txBody>
      </p:sp>
      <p:sp>
        <p:nvSpPr>
          <p:cNvPr id="24" name="Shape 21"/>
          <p:cNvSpPr/>
          <p:nvPr/>
        </p:nvSpPr>
        <p:spPr>
          <a:xfrm>
            <a:off x="496119" y="6230392"/>
            <a:ext cx="4000277" cy="9525"/>
          </a:xfrm>
          <a:prstGeom prst="rect">
            <a:avLst/>
          </a:prstGeom>
          <a:solidFill>
            <a:srgbClr val="3E2513"/>
          </a:solidFill>
          <a:ln/>
        </p:spPr>
      </p:sp>
      <p:sp>
        <p:nvSpPr>
          <p:cNvPr id="25" name="Text 22"/>
          <p:cNvSpPr/>
          <p:nvPr/>
        </p:nvSpPr>
        <p:spPr>
          <a:xfrm>
            <a:off x="496119" y="6280398"/>
            <a:ext cx="775246" cy="96887"/>
          </a:xfrm>
          <a:prstGeom prst="rect">
            <a:avLst/>
          </a:prstGeom>
          <a:noFill/>
          <a:ln/>
        </p:spPr>
        <p:txBody>
          <a:bodyPr wrap="none" lIns="0" tIns="0" rIns="0" bIns="0" rtlCol="0" anchor="t"/>
          <a:lstStyle/>
          <a:p>
            <a:pPr algn="l" indent="0" marL="0">
              <a:lnSpc>
                <a:spcPct val="104000"/>
              </a:lnSpc>
              <a:buNone/>
            </a:pPr>
            <a:r>
              <a:rPr lang="en-US" sz="600" dirty="0">
                <a:solidFill>
                  <a:srgbClr val="504C49"/>
                </a:solidFill>
                <a:latin typeface="Platypi Medium" pitchFamily="34" charset="0"/>
                <a:ea typeface="Platypi Medium" pitchFamily="34" charset="-122"/>
                <a:cs typeface="Platypi Medium" pitchFamily="34" charset="-120"/>
              </a:rPr>
              <a:t>ML Layer</a:t>
            </a:r>
            <a:endParaRPr lang="en-US" sz="600" dirty="0"/>
          </a:p>
        </p:txBody>
      </p:sp>
      <p:sp>
        <p:nvSpPr>
          <p:cNvPr id="26" name="Text 23"/>
          <p:cNvSpPr/>
          <p:nvPr/>
        </p:nvSpPr>
        <p:spPr>
          <a:xfrm>
            <a:off x="496119" y="6408241"/>
            <a:ext cx="4000277" cy="74340"/>
          </a:xfrm>
          <a:prstGeom prst="rect">
            <a:avLst/>
          </a:prstGeom>
          <a:noFill/>
          <a:ln/>
        </p:spPr>
        <p:txBody>
          <a:bodyPr wrap="none" lIns="0" tIns="0" rIns="0" bIns="0" rtlCol="0" anchor="t"/>
          <a:lstStyle/>
          <a:p>
            <a:pPr algn="l" indent="0" marL="0">
              <a:lnSpc>
                <a:spcPct val="100000"/>
              </a:lnSpc>
              <a:buNone/>
            </a:pPr>
            <a:r>
              <a:rPr lang="en-US" sz="450" dirty="0">
                <a:solidFill>
                  <a:srgbClr val="504C49"/>
                </a:solidFill>
                <a:latin typeface="Source Serif 4" pitchFamily="34" charset="0"/>
                <a:ea typeface="Source Serif 4" pitchFamily="34" charset="-122"/>
                <a:cs typeface="Source Serif 4" pitchFamily="34" charset="-120"/>
              </a:rPr>
              <a:t>Burnout prediction engine</a:t>
            </a:r>
            <a:endParaRPr lang="en-US" sz="450" dirty="0"/>
          </a:p>
        </p:txBody>
      </p:sp>
      <p:sp>
        <p:nvSpPr>
          <p:cNvPr id="27" name="Text 24"/>
          <p:cNvSpPr/>
          <p:nvPr/>
        </p:nvSpPr>
        <p:spPr>
          <a:xfrm>
            <a:off x="496119" y="6560046"/>
            <a:ext cx="123974" cy="77465"/>
          </a:xfrm>
          <a:prstGeom prst="rect">
            <a:avLst/>
          </a:prstGeom>
          <a:noFill/>
          <a:ln/>
        </p:spPr>
        <p:txBody>
          <a:bodyPr wrap="none" lIns="0" tIns="0" rIns="0" bIns="0" rtlCol="0" anchor="ctr"/>
          <a:lstStyle/>
          <a:p>
            <a:pPr algn="l" indent="0" marL="0">
              <a:lnSpc>
                <a:spcPct val="100000"/>
              </a:lnSpc>
              <a:buNone/>
            </a:pPr>
            <a:r>
              <a:rPr lang="en-US" sz="450" dirty="0">
                <a:solidFill>
                  <a:srgbClr val="504C49"/>
                </a:solidFill>
                <a:latin typeface="Platypi Light" pitchFamily="34" charset="0"/>
                <a:ea typeface="Platypi Light" pitchFamily="34" charset="-122"/>
                <a:cs typeface="Platypi Light" pitchFamily="34" charset="-120"/>
              </a:rPr>
              <a:t>05</a:t>
            </a:r>
            <a:endParaRPr lang="en-US" sz="450" dirty="0"/>
          </a:p>
        </p:txBody>
      </p:sp>
      <p:sp>
        <p:nvSpPr>
          <p:cNvPr id="28" name="Shape 25"/>
          <p:cNvSpPr/>
          <p:nvPr/>
        </p:nvSpPr>
        <p:spPr>
          <a:xfrm>
            <a:off x="496119" y="6655817"/>
            <a:ext cx="4000277" cy="9525"/>
          </a:xfrm>
          <a:prstGeom prst="rect">
            <a:avLst/>
          </a:prstGeom>
          <a:solidFill>
            <a:srgbClr val="3E2513"/>
          </a:solidFill>
          <a:ln/>
        </p:spPr>
      </p:sp>
      <p:sp>
        <p:nvSpPr>
          <p:cNvPr id="29" name="Text 26"/>
          <p:cNvSpPr/>
          <p:nvPr/>
        </p:nvSpPr>
        <p:spPr>
          <a:xfrm>
            <a:off x="496119" y="6705823"/>
            <a:ext cx="775246" cy="96887"/>
          </a:xfrm>
          <a:prstGeom prst="rect">
            <a:avLst/>
          </a:prstGeom>
          <a:noFill/>
          <a:ln/>
        </p:spPr>
        <p:txBody>
          <a:bodyPr wrap="none" lIns="0" tIns="0" rIns="0" bIns="0" rtlCol="0" anchor="t"/>
          <a:lstStyle/>
          <a:p>
            <a:pPr algn="l" indent="0" marL="0">
              <a:lnSpc>
                <a:spcPct val="104000"/>
              </a:lnSpc>
              <a:buNone/>
            </a:pPr>
            <a:r>
              <a:rPr lang="en-US" sz="600" dirty="0">
                <a:solidFill>
                  <a:srgbClr val="504C49"/>
                </a:solidFill>
                <a:latin typeface="Platypi Medium" pitchFamily="34" charset="0"/>
                <a:ea typeface="Platypi Medium" pitchFamily="34" charset="-122"/>
                <a:cs typeface="Platypi Medium" pitchFamily="34" charset="-120"/>
              </a:rPr>
              <a:t>Database Layer</a:t>
            </a:r>
            <a:endParaRPr lang="en-US" sz="600" dirty="0"/>
          </a:p>
        </p:txBody>
      </p:sp>
      <p:sp>
        <p:nvSpPr>
          <p:cNvPr id="30" name="Text 27"/>
          <p:cNvSpPr/>
          <p:nvPr/>
        </p:nvSpPr>
        <p:spPr>
          <a:xfrm>
            <a:off x="496119" y="6833667"/>
            <a:ext cx="4000277" cy="74340"/>
          </a:xfrm>
          <a:prstGeom prst="rect">
            <a:avLst/>
          </a:prstGeom>
          <a:noFill/>
          <a:ln/>
        </p:spPr>
        <p:txBody>
          <a:bodyPr wrap="none" lIns="0" tIns="0" rIns="0" bIns="0" rtlCol="0" anchor="t"/>
          <a:lstStyle/>
          <a:p>
            <a:pPr algn="l" indent="0" marL="0">
              <a:lnSpc>
                <a:spcPct val="100000"/>
              </a:lnSpc>
              <a:buNone/>
            </a:pPr>
            <a:r>
              <a:rPr lang="en-US" sz="450" dirty="0">
                <a:solidFill>
                  <a:srgbClr val="504C49"/>
                </a:solidFill>
                <a:latin typeface="Source Serif 4" pitchFamily="34" charset="0"/>
                <a:ea typeface="Source Serif 4" pitchFamily="34" charset="-122"/>
                <a:cs typeface="Source Serif 4" pitchFamily="34" charset="-120"/>
              </a:rPr>
              <a:t>PostgreSQL persistent storage</a:t>
            </a:r>
            <a:endParaRPr lang="en-US" sz="450" dirty="0"/>
          </a:p>
        </p:txBody>
      </p:sp>
      <p:sp>
        <p:nvSpPr>
          <p:cNvPr id="31" name="Text 28"/>
          <p:cNvSpPr/>
          <p:nvPr/>
        </p:nvSpPr>
        <p:spPr>
          <a:xfrm>
            <a:off x="4652367" y="4726632"/>
            <a:ext cx="1232446" cy="96887"/>
          </a:xfrm>
          <a:prstGeom prst="rect">
            <a:avLst/>
          </a:prstGeom>
          <a:noFill/>
          <a:ln/>
        </p:spPr>
        <p:txBody>
          <a:bodyPr wrap="none" lIns="0" tIns="0" rIns="0" bIns="0" rtlCol="0" anchor="t"/>
          <a:lstStyle/>
          <a:p>
            <a:pPr algn="l" indent="0" marL="0">
              <a:lnSpc>
                <a:spcPct val="104000"/>
              </a:lnSpc>
              <a:buNone/>
            </a:pPr>
            <a:r>
              <a:rPr lang="en-US" sz="600" dirty="0">
                <a:solidFill>
                  <a:srgbClr val="201B18"/>
                </a:solidFill>
                <a:latin typeface="Platypi Medium" pitchFamily="34" charset="0"/>
                <a:ea typeface="Platypi Medium" pitchFamily="34" charset="-122"/>
                <a:cs typeface="Platypi Medium" pitchFamily="34" charset="-120"/>
              </a:rPr>
              <a:t>Key Modules</a:t>
            </a:r>
            <a:endParaRPr lang="en-US" sz="600" dirty="0"/>
          </a:p>
        </p:txBody>
      </p:sp>
      <p:sp>
        <p:nvSpPr>
          <p:cNvPr id="32" name="Text 29"/>
          <p:cNvSpPr/>
          <p:nvPr/>
        </p:nvSpPr>
        <p:spPr>
          <a:xfrm>
            <a:off x="4652367" y="4854476"/>
            <a:ext cx="4000277" cy="414858"/>
          </a:xfrm>
          <a:prstGeom prst="rect">
            <a:avLst/>
          </a:prstGeom>
          <a:noFill/>
          <a:ln/>
        </p:spPr>
        <p:txBody>
          <a:bodyPr wrap="square" lIns="0" tIns="0" rIns="0" bIns="0" rtlCol="0" anchor="t">
            <a:normAutofit/>
          </a:bodyPr>
          <a:lstStyle/>
          <a:p>
            <a:pPr algn="l" marL="91440" indent="-91440">
              <a:lnSpc>
                <a:spcPct val="100000"/>
              </a:lnSpc>
              <a:buSzPct val="100000"/>
              <a:buChar char="•"/>
            </a:pPr>
            <a:r>
              <a:rPr lang="en-US" sz="450" b="1" dirty="0">
                <a:solidFill>
                  <a:srgbClr val="504C49"/>
                </a:solidFill>
                <a:latin typeface="Source Serif 4 Bold" pitchFamily="34" charset="0"/>
                <a:ea typeface="Source Serif 4 Bold" pitchFamily="34" charset="-122"/>
                <a:cs typeface="Source Serif 4 Bold" pitchFamily="34" charset="-120"/>
              </a:rPr>
              <a:t>Authentication:</a:t>
            </a:r>
            <a:pPr algn="l" marL="91440" indent="-91440">
              <a:lnSpc>
                <a:spcPct val="100000"/>
              </a:lnSpc>
              <a:buSzPct val="100000"/>
              <a:buChar char="•"/>
            </a:pPr>
            <a:r>
              <a:rPr lang="en-US" sz="450" dirty="0">
                <a:solidFill>
                  <a:srgbClr val="504C49"/>
                </a:solidFill>
                <a:latin typeface="Source Serif 4" pitchFamily="34" charset="0"/>
                <a:ea typeface="Source Serif 4" pitchFamily="34" charset="-122"/>
                <a:cs typeface="Source Serif 4" pitchFamily="34" charset="-120"/>
              </a:rPr>
              <a:t> Login, logout, JWT, RBAC</a:t>
            </a:r>
            <a:endParaRPr lang="en-US" sz="450" dirty="0"/>
          </a:p>
          <a:p>
            <a:pPr algn="l" marL="91440" indent="-91440">
              <a:lnSpc>
                <a:spcPct val="100000"/>
              </a:lnSpc>
              <a:buSzPct val="100000"/>
              <a:buChar char="•"/>
            </a:pPr>
            <a:r>
              <a:rPr lang="en-US" sz="450" b="1" dirty="0">
                <a:solidFill>
                  <a:srgbClr val="504C49"/>
                </a:solidFill>
                <a:latin typeface="Source Serif 4 Bold" pitchFamily="34" charset="0"/>
                <a:ea typeface="Source Serif 4 Bold" pitchFamily="34" charset="-122"/>
                <a:cs typeface="Source Serif 4 Bold" pitchFamily="34" charset="-120"/>
              </a:rPr>
              <a:t>Employee &amp; Department:</a:t>
            </a:r>
            <a:pPr algn="l" marL="91440" indent="-91440">
              <a:lnSpc>
                <a:spcPct val="100000"/>
              </a:lnSpc>
              <a:buSzPct val="100000"/>
              <a:buChar char="•"/>
            </a:pPr>
            <a:r>
              <a:rPr lang="en-US" sz="450" dirty="0">
                <a:solidFill>
                  <a:srgbClr val="504C49"/>
                </a:solidFill>
                <a:latin typeface="Source Serif 4" pitchFamily="34" charset="0"/>
                <a:ea typeface="Source Serif 4" pitchFamily="34" charset="-122"/>
                <a:cs typeface="Source Serif 4" pitchFamily="34" charset="-120"/>
              </a:rPr>
              <a:t> CRUD operations, search, assignment</a:t>
            </a:r>
            <a:endParaRPr lang="en-US" sz="450" dirty="0"/>
          </a:p>
          <a:p>
            <a:pPr algn="l" marL="91440" indent="-91440">
              <a:lnSpc>
                <a:spcPct val="100000"/>
              </a:lnSpc>
              <a:buSzPct val="100000"/>
              <a:buChar char="•"/>
            </a:pPr>
            <a:r>
              <a:rPr lang="en-US" sz="450" b="1" dirty="0">
                <a:solidFill>
                  <a:srgbClr val="504C49"/>
                </a:solidFill>
                <a:latin typeface="Source Serif 4 Bold" pitchFamily="34" charset="0"/>
                <a:ea typeface="Source Serif 4 Bold" pitchFamily="34" charset="-122"/>
                <a:cs typeface="Source Serif 4 Bold" pitchFamily="34" charset="-120"/>
              </a:rPr>
              <a:t>Attendance &amp; Performance:</a:t>
            </a:r>
            <a:pPr algn="l" marL="91440" indent="-91440">
              <a:lnSpc>
                <a:spcPct val="100000"/>
              </a:lnSpc>
              <a:buSzPct val="100000"/>
              <a:buChar char="•"/>
            </a:pPr>
            <a:r>
              <a:rPr lang="en-US" sz="450" dirty="0">
                <a:solidFill>
                  <a:srgbClr val="504C49"/>
                </a:solidFill>
                <a:latin typeface="Source Serif 4" pitchFamily="34" charset="0"/>
                <a:ea typeface="Source Serif 4" pitchFamily="34" charset="-122"/>
                <a:cs typeface="Source Serif 4" pitchFamily="34" charset="-120"/>
              </a:rPr>
              <a:t> Recording, metrics, reports</a:t>
            </a:r>
            <a:endParaRPr lang="en-US" sz="450" dirty="0"/>
          </a:p>
          <a:p>
            <a:pPr algn="l" marL="91440" indent="-91440">
              <a:lnSpc>
                <a:spcPct val="100000"/>
              </a:lnSpc>
              <a:buSzPct val="100000"/>
              <a:buChar char="•"/>
            </a:pPr>
            <a:r>
              <a:rPr lang="en-US" sz="450" b="1" dirty="0">
                <a:solidFill>
                  <a:srgbClr val="504C49"/>
                </a:solidFill>
                <a:latin typeface="Source Serif 4 Bold" pitchFamily="34" charset="0"/>
                <a:ea typeface="Source Serif 4 Bold" pitchFamily="34" charset="-122"/>
                <a:cs typeface="Source Serif 4 Bold" pitchFamily="34" charset="-120"/>
              </a:rPr>
              <a:t>Burnout Prediction:</a:t>
            </a:r>
            <a:pPr algn="l" marL="91440" indent="-91440">
              <a:lnSpc>
                <a:spcPct val="100000"/>
              </a:lnSpc>
              <a:buSzPct val="100000"/>
              <a:buChar char="•"/>
            </a:pPr>
            <a:r>
              <a:rPr lang="en-US" sz="450" dirty="0">
                <a:solidFill>
                  <a:srgbClr val="504C49"/>
                </a:solidFill>
                <a:latin typeface="Source Serif 4" pitchFamily="34" charset="0"/>
                <a:ea typeface="Source Serif 4" pitchFamily="34" charset="-122"/>
                <a:cs typeface="Source Serif 4" pitchFamily="34" charset="-120"/>
              </a:rPr>
              <a:t> Dataset processing, feature engineering, ML inference</a:t>
            </a:r>
            <a:endParaRPr lang="en-US" sz="450" dirty="0"/>
          </a:p>
          <a:p>
            <a:pPr algn="l" marL="91440" indent="-91440">
              <a:lnSpc>
                <a:spcPct val="100000"/>
              </a:lnSpc>
              <a:buSzPct val="100000"/>
              <a:buChar char="•"/>
            </a:pPr>
            <a:r>
              <a:rPr lang="en-US" sz="450" b="1" dirty="0">
                <a:solidFill>
                  <a:srgbClr val="504C49"/>
                </a:solidFill>
                <a:latin typeface="Source Serif 4 Bold" pitchFamily="34" charset="0"/>
                <a:ea typeface="Source Serif 4 Bold" pitchFamily="34" charset="-122"/>
                <a:cs typeface="Source Serif 4 Bold" pitchFamily="34" charset="-120"/>
              </a:rPr>
              <a:t>Reporting:</a:t>
            </a:r>
            <a:pPr algn="l" marL="91440" indent="-91440">
              <a:lnSpc>
                <a:spcPct val="100000"/>
              </a:lnSpc>
              <a:buSzPct val="100000"/>
              <a:buChar char="•"/>
            </a:pPr>
            <a:r>
              <a:rPr lang="en-US" sz="450" dirty="0">
                <a:solidFill>
                  <a:srgbClr val="504C49"/>
                </a:solidFill>
                <a:latin typeface="Source Serif 4" pitchFamily="34" charset="0"/>
                <a:ea typeface="Source Serif 4" pitchFamily="34" charset="-122"/>
                <a:cs typeface="Source Serif 4" pitchFamily="34" charset="-120"/>
              </a:rPr>
              <a:t> Dashboard, charts, PDF/CSV export</a:t>
            </a:r>
            <a:endParaRPr lang="en-US" sz="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403920"/>
            <a:ext cx="4063752" cy="333077"/>
          </a:xfrm>
          <a:prstGeom prst="rect">
            <a:avLst/>
          </a:prstGeom>
          <a:noFill/>
          <a:ln/>
        </p:spPr>
        <p:txBody>
          <a:bodyPr wrap="none" lIns="0" tIns="0" rIns="0" bIns="0" rtlCol="0" anchor="t"/>
          <a:lstStyle/>
          <a:p>
            <a:pPr algn="l" indent="0" marL="0">
              <a:lnSpc>
                <a:spcPct val="104000"/>
              </a:lnSpc>
              <a:buNone/>
            </a:pPr>
            <a:r>
              <a:rPr lang="en-US" sz="2050" dirty="0">
                <a:solidFill>
                  <a:srgbClr val="201B18"/>
                </a:solidFill>
                <a:latin typeface="Platypi Medium" pitchFamily="34" charset="0"/>
                <a:ea typeface="Platypi Medium" pitchFamily="34" charset="-122"/>
                <a:cs typeface="Platypi Medium" pitchFamily="34" charset="-120"/>
              </a:rPr>
              <a:t>Chapter 7: Database Design</a:t>
            </a:r>
            <a:endParaRPr lang="en-US" sz="2050" dirty="0"/>
          </a:p>
        </p:txBody>
      </p:sp>
      <p:sp>
        <p:nvSpPr>
          <p:cNvPr id="3" name="Text 1"/>
          <p:cNvSpPr/>
          <p:nvPr/>
        </p:nvSpPr>
        <p:spPr>
          <a:xfrm>
            <a:off x="496119" y="920204"/>
            <a:ext cx="8151763" cy="317153"/>
          </a:xfrm>
          <a:prstGeom prst="rect">
            <a:avLst/>
          </a:prstGeom>
          <a:noFill/>
          <a:ln/>
        </p:spPr>
        <p:txBody>
          <a:bodyPr wrap="square" lIns="0" tIns="0" rIns="0" bIns="0" rtlCol="0" anchor="t">
            <a:normAutofit/>
          </a:bodyPr>
          <a:lstStyle/>
          <a:p>
            <a:pPr algn="l" indent="0" marL="0">
              <a:lnSpc>
                <a:spcPct val="124000"/>
              </a:lnSpc>
              <a:buNone/>
            </a:pPr>
            <a:r>
              <a:rPr lang="en-US" sz="800" b="1" dirty="0">
                <a:solidFill>
                  <a:srgbClr val="504C49"/>
                </a:solidFill>
                <a:latin typeface="Source Serif 4 Bold" pitchFamily="34" charset="0"/>
                <a:ea typeface="Source Serif 4 Bold" pitchFamily="34" charset="-122"/>
                <a:cs typeface="Source Serif 4 Bold" pitchFamily="34" charset="-120"/>
              </a:rPr>
              <a:t>PostgreSQL</a:t>
            </a:r>
            <a:pPr algn="l" indent="0" marL="0">
              <a:lnSpc>
                <a:spcPct val="124000"/>
              </a:lnSpc>
              <a:buNone/>
            </a:pPr>
            <a:r>
              <a:rPr lang="en-US" sz="800" dirty="0">
                <a:solidFill>
                  <a:srgbClr val="504C49"/>
                </a:solidFill>
                <a:latin typeface="Source Serif 4" pitchFamily="34" charset="0"/>
                <a:ea typeface="Source Serif 4" pitchFamily="34" charset="-122"/>
                <a:cs typeface="Source Serif 4" pitchFamily="34" charset="-120"/>
              </a:rPr>
              <a:t> serves as the relational database, storing employee information, authentication details, departments, attendance, performance metrics, burnout predictions, and system logs. The schema is normalized to </a:t>
            </a:r>
            <a:pPr algn="l" indent="0" marL="0">
              <a:lnSpc>
                <a:spcPct val="124000"/>
              </a:lnSpc>
              <a:buNone/>
            </a:pPr>
            <a:r>
              <a:rPr lang="en-US" sz="800" b="1" dirty="0">
                <a:solidFill>
                  <a:srgbClr val="504C49"/>
                </a:solidFill>
                <a:latin typeface="Source Serif 4 Bold" pitchFamily="34" charset="0"/>
                <a:ea typeface="Source Serif 4 Bold" pitchFamily="34" charset="-122"/>
                <a:cs typeface="Source Serif 4 Bold" pitchFamily="34" charset="-120"/>
              </a:rPr>
              <a:t>Third Normal Form (3NF)</a:t>
            </a:r>
            <a:pPr algn="l" indent="0" marL="0">
              <a:lnSpc>
                <a:spcPct val="124000"/>
              </a:lnSpc>
              <a:buNone/>
            </a:pPr>
            <a:r>
              <a:rPr lang="en-US" sz="800" dirty="0">
                <a:solidFill>
                  <a:srgbClr val="504C49"/>
                </a:solidFill>
                <a:latin typeface="Source Serif 4" pitchFamily="34" charset="0"/>
                <a:ea typeface="Source Serif 4" pitchFamily="34" charset="-122"/>
                <a:cs typeface="Source Serif 4" pitchFamily="34" charset="-120"/>
              </a:rPr>
              <a:t> to minimize redundancy while maintaining efficient data retrieval.</a:t>
            </a:r>
            <a:endParaRPr lang="en-US" sz="800" dirty="0"/>
          </a:p>
        </p:txBody>
      </p:sp>
      <p:sp>
        <p:nvSpPr>
          <p:cNvPr id="4" name="Text 2"/>
          <p:cNvSpPr/>
          <p:nvPr/>
        </p:nvSpPr>
        <p:spPr>
          <a:xfrm>
            <a:off x="496119" y="1431950"/>
            <a:ext cx="1789658" cy="166539"/>
          </a:xfrm>
          <a:prstGeom prst="rect">
            <a:avLst/>
          </a:prstGeom>
          <a:noFill/>
          <a:ln/>
        </p:spPr>
        <p:txBody>
          <a:bodyPr wrap="none" lIns="0" tIns="0" rIns="0" bIns="0" rtlCol="0" anchor="t"/>
          <a:lstStyle/>
          <a:p>
            <a:pPr algn="l" indent="0" marL="0">
              <a:lnSpc>
                <a:spcPct val="104000"/>
              </a:lnSpc>
              <a:buNone/>
            </a:pPr>
            <a:r>
              <a:rPr lang="en-US" sz="1000" dirty="0">
                <a:solidFill>
                  <a:srgbClr val="201B18"/>
                </a:solidFill>
                <a:latin typeface="Platypi Medium" pitchFamily="34" charset="0"/>
                <a:ea typeface="Platypi Medium" pitchFamily="34" charset="-122"/>
                <a:cs typeface="Platypi Medium" pitchFamily="34" charset="-120"/>
              </a:rPr>
              <a:t>Core Tables</a:t>
            </a:r>
            <a:endParaRPr lang="en-US" sz="1000" dirty="0"/>
          </a:p>
        </p:txBody>
      </p:sp>
      <p:sp>
        <p:nvSpPr>
          <p:cNvPr id="5" name="Shape 3"/>
          <p:cNvSpPr/>
          <p:nvPr/>
        </p:nvSpPr>
        <p:spPr>
          <a:xfrm>
            <a:off x="496119" y="1701478"/>
            <a:ext cx="3945880" cy="2935114"/>
          </a:xfrm>
          <a:prstGeom prst="roundRect">
            <a:avLst>
              <a:gd name="adj" fmla="val 545"/>
            </a:avLst>
          </a:prstGeom>
          <a:noFill/>
          <a:ln w="4763">
            <a:solidFill>
              <a:srgbClr val="000000">
                <a:alpha val="8000"/>
              </a:srgbClr>
            </a:solidFill>
            <a:prstDash val="solid"/>
          </a:ln>
        </p:spPr>
      </p:sp>
      <p:sp>
        <p:nvSpPr>
          <p:cNvPr id="6" name="Text 4"/>
          <p:cNvSpPr/>
          <p:nvPr/>
        </p:nvSpPr>
        <p:spPr>
          <a:xfrm>
            <a:off x="607442" y="1765920"/>
            <a:ext cx="2212256" cy="158576"/>
          </a:xfrm>
          <a:prstGeom prst="rect">
            <a:avLst/>
          </a:prstGeom>
          <a:noFill/>
          <a:ln/>
        </p:spPr>
        <p:txBody>
          <a:bodyPr wrap="none" lIns="0" tIns="0" rIns="0" bIns="0" rtlCol="0" anchor="t"/>
          <a:lstStyle/>
          <a:p>
            <a:pPr algn="l" indent="0" marL="0">
              <a:lnSpc>
                <a:spcPct val="124000"/>
              </a:lnSpc>
              <a:buNone/>
            </a:pPr>
            <a:r>
              <a:rPr lang="en-US" sz="800" b="1" dirty="0">
                <a:solidFill>
                  <a:srgbClr val="504C49"/>
                </a:solidFill>
                <a:latin typeface="Source Serif 4 Bold" pitchFamily="34" charset="0"/>
                <a:ea typeface="Source Serif 4 Bold" pitchFamily="34" charset="-122"/>
                <a:cs typeface="Source Serif 4 Bold" pitchFamily="34" charset="-120"/>
              </a:rPr>
              <a:t>Table</a:t>
            </a:r>
            <a:endParaRPr lang="en-US" sz="800" dirty="0"/>
          </a:p>
        </p:txBody>
      </p:sp>
      <p:sp>
        <p:nvSpPr>
          <p:cNvPr id="7" name="Text 5"/>
          <p:cNvSpPr/>
          <p:nvPr/>
        </p:nvSpPr>
        <p:spPr>
          <a:xfrm>
            <a:off x="2575620" y="1765920"/>
            <a:ext cx="2212256" cy="158576"/>
          </a:xfrm>
          <a:prstGeom prst="rect">
            <a:avLst/>
          </a:prstGeom>
          <a:noFill/>
          <a:ln/>
        </p:spPr>
        <p:txBody>
          <a:bodyPr wrap="none" lIns="0" tIns="0" rIns="0" bIns="0" rtlCol="0" anchor="t"/>
          <a:lstStyle/>
          <a:p>
            <a:pPr algn="l" indent="0" marL="0">
              <a:lnSpc>
                <a:spcPct val="124000"/>
              </a:lnSpc>
              <a:buNone/>
            </a:pPr>
            <a:r>
              <a:rPr lang="en-US" sz="800" b="1" dirty="0">
                <a:solidFill>
                  <a:srgbClr val="504C49"/>
                </a:solidFill>
                <a:latin typeface="Source Serif 4 Bold" pitchFamily="34" charset="0"/>
                <a:ea typeface="Source Serif 4 Bold" pitchFamily="34" charset="-122"/>
                <a:cs typeface="Source Serif 4 Bold" pitchFamily="34" charset="-120"/>
              </a:rPr>
              <a:t>Key Columns</a:t>
            </a:r>
            <a:endParaRPr lang="en-US" sz="800" dirty="0"/>
          </a:p>
        </p:txBody>
      </p:sp>
      <p:sp>
        <p:nvSpPr>
          <p:cNvPr id="8" name="Text 6"/>
          <p:cNvSpPr/>
          <p:nvPr/>
        </p:nvSpPr>
        <p:spPr>
          <a:xfrm>
            <a:off x="607442" y="2048619"/>
            <a:ext cx="2212256" cy="158576"/>
          </a:xfrm>
          <a:prstGeom prst="rect">
            <a:avLst/>
          </a:prstGeom>
          <a:noFill/>
          <a:ln/>
        </p:spPr>
        <p:txBody>
          <a:bodyPr wrap="none" lIns="0" tIns="0" rIns="0" bIns="0" rtlCol="0" anchor="t"/>
          <a:lstStyle/>
          <a:p>
            <a:pPr algn="l" indent="0" marL="0">
              <a:lnSpc>
                <a:spcPct val="124000"/>
              </a:lnSpc>
              <a:buNone/>
            </a:pPr>
            <a:r>
              <a:rPr lang="en-US" sz="800" dirty="0">
                <a:solidFill>
                  <a:srgbClr val="504C49"/>
                </a:solidFill>
                <a:latin typeface="Source Serif 4" pitchFamily="34" charset="0"/>
                <a:ea typeface="Source Serif 4" pitchFamily="34" charset="-122"/>
                <a:cs typeface="Source Serif 4" pitchFamily="34" charset="-120"/>
              </a:rPr>
              <a:t>Users</a:t>
            </a:r>
            <a:endParaRPr lang="en-US" sz="800" dirty="0"/>
          </a:p>
        </p:txBody>
      </p:sp>
      <p:sp>
        <p:nvSpPr>
          <p:cNvPr id="9" name="Text 7"/>
          <p:cNvSpPr/>
          <p:nvPr/>
        </p:nvSpPr>
        <p:spPr>
          <a:xfrm>
            <a:off x="2575620" y="2048619"/>
            <a:ext cx="1755056" cy="317153"/>
          </a:xfrm>
          <a:prstGeom prst="rect">
            <a:avLst/>
          </a:prstGeom>
          <a:noFill/>
          <a:ln/>
        </p:spPr>
        <p:txBody>
          <a:bodyPr wrap="square" lIns="0" tIns="0" rIns="0" bIns="0" rtlCol="0" anchor="t">
            <a:normAutofit/>
          </a:bodyPr>
          <a:lstStyle/>
          <a:p>
            <a:pPr algn="l" indent="0" marL="0">
              <a:lnSpc>
                <a:spcPct val="124000"/>
              </a:lnSpc>
              <a:buNone/>
            </a:pPr>
            <a:r>
              <a:rPr lang="en-US" sz="800" dirty="0">
                <a:solidFill>
                  <a:srgbClr val="504C49"/>
                </a:solidFill>
                <a:latin typeface="Source Serif 4" pitchFamily="34" charset="0"/>
                <a:ea typeface="Source Serif 4" pitchFamily="34" charset="-122"/>
                <a:cs typeface="Source Serif 4" pitchFamily="34" charset="-120"/>
              </a:rPr>
              <a:t>id, username, password_hash, role, created_at</a:t>
            </a:r>
            <a:endParaRPr lang="en-US" sz="800" dirty="0"/>
          </a:p>
        </p:txBody>
      </p:sp>
      <p:sp>
        <p:nvSpPr>
          <p:cNvPr id="10" name="Text 8"/>
          <p:cNvSpPr/>
          <p:nvPr/>
        </p:nvSpPr>
        <p:spPr>
          <a:xfrm>
            <a:off x="607442" y="2489895"/>
            <a:ext cx="2212256" cy="158576"/>
          </a:xfrm>
          <a:prstGeom prst="rect">
            <a:avLst/>
          </a:prstGeom>
          <a:noFill/>
          <a:ln/>
        </p:spPr>
        <p:txBody>
          <a:bodyPr wrap="none" lIns="0" tIns="0" rIns="0" bIns="0" rtlCol="0" anchor="t"/>
          <a:lstStyle/>
          <a:p>
            <a:pPr algn="l" indent="0" marL="0">
              <a:lnSpc>
                <a:spcPct val="124000"/>
              </a:lnSpc>
              <a:buNone/>
            </a:pPr>
            <a:r>
              <a:rPr lang="en-US" sz="800" dirty="0">
                <a:solidFill>
                  <a:srgbClr val="504C49"/>
                </a:solidFill>
                <a:latin typeface="Source Serif 4" pitchFamily="34" charset="0"/>
                <a:ea typeface="Source Serif 4" pitchFamily="34" charset="-122"/>
                <a:cs typeface="Source Serif 4" pitchFamily="34" charset="-120"/>
              </a:rPr>
              <a:t>Employees</a:t>
            </a:r>
            <a:endParaRPr lang="en-US" sz="800" dirty="0"/>
          </a:p>
        </p:txBody>
      </p:sp>
      <p:sp>
        <p:nvSpPr>
          <p:cNvPr id="11" name="Text 9"/>
          <p:cNvSpPr/>
          <p:nvPr/>
        </p:nvSpPr>
        <p:spPr>
          <a:xfrm>
            <a:off x="2575620" y="2489895"/>
            <a:ext cx="1755056" cy="475729"/>
          </a:xfrm>
          <a:prstGeom prst="rect">
            <a:avLst/>
          </a:prstGeom>
          <a:noFill/>
          <a:ln/>
        </p:spPr>
        <p:txBody>
          <a:bodyPr wrap="square" lIns="0" tIns="0" rIns="0" bIns="0" rtlCol="0" anchor="t">
            <a:normAutofit/>
          </a:bodyPr>
          <a:lstStyle/>
          <a:p>
            <a:pPr algn="l" indent="0" marL="0">
              <a:lnSpc>
                <a:spcPct val="124000"/>
              </a:lnSpc>
              <a:buNone/>
            </a:pPr>
            <a:r>
              <a:rPr lang="en-US" sz="800" dirty="0">
                <a:solidFill>
                  <a:srgbClr val="504C49"/>
                </a:solidFill>
                <a:latin typeface="Source Serif 4" pitchFamily="34" charset="0"/>
                <a:ea typeface="Source Serif 4" pitchFamily="34" charset="-122"/>
                <a:cs typeface="Source Serif 4" pitchFamily="34" charset="-120"/>
              </a:rPr>
              <a:t>employee_id, name, email, department_id, designation, joining_date</a:t>
            </a:r>
            <a:endParaRPr lang="en-US" sz="800" dirty="0"/>
          </a:p>
        </p:txBody>
      </p:sp>
      <p:sp>
        <p:nvSpPr>
          <p:cNvPr id="12" name="Text 10"/>
          <p:cNvSpPr/>
          <p:nvPr/>
        </p:nvSpPr>
        <p:spPr>
          <a:xfrm>
            <a:off x="607442" y="3089746"/>
            <a:ext cx="2212256" cy="158576"/>
          </a:xfrm>
          <a:prstGeom prst="rect">
            <a:avLst/>
          </a:prstGeom>
          <a:noFill/>
          <a:ln/>
        </p:spPr>
        <p:txBody>
          <a:bodyPr wrap="none" lIns="0" tIns="0" rIns="0" bIns="0" rtlCol="0" anchor="t"/>
          <a:lstStyle/>
          <a:p>
            <a:pPr algn="l" indent="0" marL="0">
              <a:lnSpc>
                <a:spcPct val="124000"/>
              </a:lnSpc>
              <a:buNone/>
            </a:pPr>
            <a:r>
              <a:rPr lang="en-US" sz="800" dirty="0">
                <a:solidFill>
                  <a:srgbClr val="504C49"/>
                </a:solidFill>
                <a:latin typeface="Source Serif 4" pitchFamily="34" charset="0"/>
                <a:ea typeface="Source Serif 4" pitchFamily="34" charset="-122"/>
                <a:cs typeface="Source Serif 4" pitchFamily="34" charset="-120"/>
              </a:rPr>
              <a:t>Departments</a:t>
            </a:r>
            <a:endParaRPr lang="en-US" sz="800" dirty="0"/>
          </a:p>
        </p:txBody>
      </p:sp>
      <p:sp>
        <p:nvSpPr>
          <p:cNvPr id="13" name="Text 11"/>
          <p:cNvSpPr/>
          <p:nvPr/>
        </p:nvSpPr>
        <p:spPr>
          <a:xfrm>
            <a:off x="2575620" y="3089746"/>
            <a:ext cx="2212256" cy="158576"/>
          </a:xfrm>
          <a:prstGeom prst="rect">
            <a:avLst/>
          </a:prstGeom>
          <a:noFill/>
          <a:ln/>
        </p:spPr>
        <p:txBody>
          <a:bodyPr wrap="none" lIns="0" tIns="0" rIns="0" bIns="0" rtlCol="0" anchor="t"/>
          <a:lstStyle/>
          <a:p>
            <a:pPr algn="l" indent="0" marL="0">
              <a:lnSpc>
                <a:spcPct val="124000"/>
              </a:lnSpc>
              <a:buNone/>
            </a:pPr>
            <a:r>
              <a:rPr lang="en-US" sz="800" dirty="0">
                <a:solidFill>
                  <a:srgbClr val="504C49"/>
                </a:solidFill>
                <a:latin typeface="Source Serif 4" pitchFamily="34" charset="0"/>
                <a:ea typeface="Source Serif 4" pitchFamily="34" charset="-122"/>
                <a:cs typeface="Source Serif 4" pitchFamily="34" charset="-120"/>
              </a:rPr>
              <a:t>department_id, department_name</a:t>
            </a:r>
            <a:endParaRPr lang="en-US" sz="800" dirty="0"/>
          </a:p>
        </p:txBody>
      </p:sp>
      <p:sp>
        <p:nvSpPr>
          <p:cNvPr id="14" name="Text 12"/>
          <p:cNvSpPr/>
          <p:nvPr/>
        </p:nvSpPr>
        <p:spPr>
          <a:xfrm>
            <a:off x="607442" y="3372445"/>
            <a:ext cx="2212256" cy="158576"/>
          </a:xfrm>
          <a:prstGeom prst="rect">
            <a:avLst/>
          </a:prstGeom>
          <a:noFill/>
          <a:ln/>
        </p:spPr>
        <p:txBody>
          <a:bodyPr wrap="none" lIns="0" tIns="0" rIns="0" bIns="0" rtlCol="0" anchor="t"/>
          <a:lstStyle/>
          <a:p>
            <a:pPr algn="l" indent="0" marL="0">
              <a:lnSpc>
                <a:spcPct val="124000"/>
              </a:lnSpc>
              <a:buNone/>
            </a:pPr>
            <a:r>
              <a:rPr lang="en-US" sz="800" dirty="0">
                <a:solidFill>
                  <a:srgbClr val="504C49"/>
                </a:solidFill>
                <a:latin typeface="Source Serif 4" pitchFamily="34" charset="0"/>
                <a:ea typeface="Source Serif 4" pitchFamily="34" charset="-122"/>
                <a:cs typeface="Source Serif 4" pitchFamily="34" charset="-120"/>
              </a:rPr>
              <a:t>Attendance</a:t>
            </a:r>
            <a:endParaRPr lang="en-US" sz="800" dirty="0"/>
          </a:p>
        </p:txBody>
      </p:sp>
      <p:sp>
        <p:nvSpPr>
          <p:cNvPr id="15" name="Text 13"/>
          <p:cNvSpPr/>
          <p:nvPr/>
        </p:nvSpPr>
        <p:spPr>
          <a:xfrm>
            <a:off x="2575620" y="3372445"/>
            <a:ext cx="1755056" cy="317153"/>
          </a:xfrm>
          <a:prstGeom prst="rect">
            <a:avLst/>
          </a:prstGeom>
          <a:noFill/>
          <a:ln/>
        </p:spPr>
        <p:txBody>
          <a:bodyPr wrap="square" lIns="0" tIns="0" rIns="0" bIns="0" rtlCol="0" anchor="t">
            <a:normAutofit/>
          </a:bodyPr>
          <a:lstStyle/>
          <a:p>
            <a:pPr algn="l" indent="0" marL="0">
              <a:lnSpc>
                <a:spcPct val="124000"/>
              </a:lnSpc>
              <a:buNone/>
            </a:pPr>
            <a:r>
              <a:rPr lang="en-US" sz="800" dirty="0">
                <a:solidFill>
                  <a:srgbClr val="504C49"/>
                </a:solidFill>
                <a:latin typeface="Source Serif 4" pitchFamily="34" charset="0"/>
                <a:ea typeface="Source Serif 4" pitchFamily="34" charset="-122"/>
                <a:cs typeface="Source Serif 4" pitchFamily="34" charset="-120"/>
              </a:rPr>
              <a:t>attendance_id, employee_id, date, status</a:t>
            </a:r>
            <a:endParaRPr lang="en-US" sz="800" dirty="0"/>
          </a:p>
        </p:txBody>
      </p:sp>
      <p:sp>
        <p:nvSpPr>
          <p:cNvPr id="16" name="Text 14"/>
          <p:cNvSpPr/>
          <p:nvPr/>
        </p:nvSpPr>
        <p:spPr>
          <a:xfrm>
            <a:off x="607442" y="3813721"/>
            <a:ext cx="2212256" cy="158576"/>
          </a:xfrm>
          <a:prstGeom prst="rect">
            <a:avLst/>
          </a:prstGeom>
          <a:noFill/>
          <a:ln/>
        </p:spPr>
        <p:txBody>
          <a:bodyPr wrap="none" lIns="0" tIns="0" rIns="0" bIns="0" rtlCol="0" anchor="t"/>
          <a:lstStyle/>
          <a:p>
            <a:pPr algn="l" indent="0" marL="0">
              <a:lnSpc>
                <a:spcPct val="124000"/>
              </a:lnSpc>
              <a:buNone/>
            </a:pPr>
            <a:r>
              <a:rPr lang="en-US" sz="800" dirty="0">
                <a:solidFill>
                  <a:srgbClr val="504C49"/>
                </a:solidFill>
                <a:latin typeface="Source Serif 4" pitchFamily="34" charset="0"/>
                <a:ea typeface="Source Serif 4" pitchFamily="34" charset="-122"/>
                <a:cs typeface="Source Serif 4" pitchFamily="34" charset="-120"/>
              </a:rPr>
              <a:t>Performance</a:t>
            </a:r>
            <a:endParaRPr lang="en-US" sz="800" dirty="0"/>
          </a:p>
        </p:txBody>
      </p:sp>
      <p:sp>
        <p:nvSpPr>
          <p:cNvPr id="17" name="Text 15"/>
          <p:cNvSpPr/>
          <p:nvPr/>
        </p:nvSpPr>
        <p:spPr>
          <a:xfrm>
            <a:off x="2575620" y="3813721"/>
            <a:ext cx="1755056" cy="317153"/>
          </a:xfrm>
          <a:prstGeom prst="rect">
            <a:avLst/>
          </a:prstGeom>
          <a:noFill/>
          <a:ln/>
        </p:spPr>
        <p:txBody>
          <a:bodyPr wrap="square" lIns="0" tIns="0" rIns="0" bIns="0" rtlCol="0" anchor="t">
            <a:normAutofit/>
          </a:bodyPr>
          <a:lstStyle/>
          <a:p>
            <a:pPr algn="l" indent="0" marL="0">
              <a:lnSpc>
                <a:spcPct val="124000"/>
              </a:lnSpc>
              <a:buNone/>
            </a:pPr>
            <a:r>
              <a:rPr lang="en-US" sz="800" dirty="0">
                <a:solidFill>
                  <a:srgbClr val="504C49"/>
                </a:solidFill>
                <a:latin typeface="Source Serif 4" pitchFamily="34" charset="0"/>
                <a:ea typeface="Source Serif 4" pitchFamily="34" charset="-122"/>
                <a:cs typeface="Source Serif 4" pitchFamily="34" charset="-120"/>
              </a:rPr>
              <a:t>performance_id, employee_id, productivity_score, rating</a:t>
            </a:r>
            <a:endParaRPr lang="en-US" sz="800" dirty="0"/>
          </a:p>
        </p:txBody>
      </p:sp>
      <p:sp>
        <p:nvSpPr>
          <p:cNvPr id="18" name="Text 16"/>
          <p:cNvSpPr/>
          <p:nvPr/>
        </p:nvSpPr>
        <p:spPr>
          <a:xfrm>
            <a:off x="607442" y="4254996"/>
            <a:ext cx="2212256" cy="158576"/>
          </a:xfrm>
          <a:prstGeom prst="rect">
            <a:avLst/>
          </a:prstGeom>
          <a:noFill/>
          <a:ln/>
        </p:spPr>
        <p:txBody>
          <a:bodyPr wrap="none" lIns="0" tIns="0" rIns="0" bIns="0" rtlCol="0" anchor="t"/>
          <a:lstStyle/>
          <a:p>
            <a:pPr algn="l" indent="0" marL="0">
              <a:lnSpc>
                <a:spcPct val="124000"/>
              </a:lnSpc>
              <a:buNone/>
            </a:pPr>
            <a:r>
              <a:rPr lang="en-US" sz="800" dirty="0">
                <a:solidFill>
                  <a:srgbClr val="504C49"/>
                </a:solidFill>
                <a:latin typeface="Source Serif 4" pitchFamily="34" charset="0"/>
                <a:ea typeface="Source Serif 4" pitchFamily="34" charset="-122"/>
                <a:cs typeface="Source Serif 4" pitchFamily="34" charset="-120"/>
              </a:rPr>
              <a:t>Burnout Predictions</a:t>
            </a:r>
            <a:endParaRPr lang="en-US" sz="800" dirty="0"/>
          </a:p>
        </p:txBody>
      </p:sp>
      <p:sp>
        <p:nvSpPr>
          <p:cNvPr id="19" name="Text 17"/>
          <p:cNvSpPr/>
          <p:nvPr/>
        </p:nvSpPr>
        <p:spPr>
          <a:xfrm>
            <a:off x="2575620" y="4254996"/>
            <a:ext cx="1755056" cy="317153"/>
          </a:xfrm>
          <a:prstGeom prst="rect">
            <a:avLst/>
          </a:prstGeom>
          <a:noFill/>
          <a:ln/>
        </p:spPr>
        <p:txBody>
          <a:bodyPr wrap="square" lIns="0" tIns="0" rIns="0" bIns="0" rtlCol="0" anchor="t">
            <a:normAutofit/>
          </a:bodyPr>
          <a:lstStyle/>
          <a:p>
            <a:pPr algn="l" indent="0" marL="0">
              <a:lnSpc>
                <a:spcPct val="124000"/>
              </a:lnSpc>
              <a:buNone/>
            </a:pPr>
            <a:r>
              <a:rPr lang="en-US" sz="800" dirty="0">
                <a:solidFill>
                  <a:srgbClr val="504C49"/>
                </a:solidFill>
                <a:latin typeface="Source Serif 4" pitchFamily="34" charset="0"/>
                <a:ea typeface="Source Serif 4" pitchFamily="34" charset="-122"/>
                <a:cs typeface="Source Serif 4" pitchFamily="34" charset="-120"/>
              </a:rPr>
              <a:t>prediction_id, employee_id, burnout_score, prediction_date</a:t>
            </a:r>
            <a:endParaRPr lang="en-US" sz="800" dirty="0"/>
          </a:p>
        </p:txBody>
      </p:sp>
      <p:sp>
        <p:nvSpPr>
          <p:cNvPr id="20" name="Text 18"/>
          <p:cNvSpPr/>
          <p:nvPr/>
        </p:nvSpPr>
        <p:spPr>
          <a:xfrm>
            <a:off x="4706764" y="1431950"/>
            <a:ext cx="1789658" cy="166539"/>
          </a:xfrm>
          <a:prstGeom prst="rect">
            <a:avLst/>
          </a:prstGeom>
          <a:noFill/>
          <a:ln/>
        </p:spPr>
        <p:txBody>
          <a:bodyPr wrap="none" lIns="0" tIns="0" rIns="0" bIns="0" rtlCol="0" anchor="t"/>
          <a:lstStyle/>
          <a:p>
            <a:pPr algn="l" indent="0" marL="0">
              <a:lnSpc>
                <a:spcPct val="104000"/>
              </a:lnSpc>
              <a:buNone/>
            </a:pPr>
            <a:r>
              <a:rPr lang="en-US" sz="1000" dirty="0">
                <a:solidFill>
                  <a:srgbClr val="201B18"/>
                </a:solidFill>
                <a:latin typeface="Platypi Medium" pitchFamily="34" charset="0"/>
                <a:ea typeface="Platypi Medium" pitchFamily="34" charset="-122"/>
                <a:cs typeface="Platypi Medium" pitchFamily="34" charset="-120"/>
              </a:rPr>
              <a:t>Relationships</a:t>
            </a:r>
            <a:endParaRPr lang="en-US" sz="1000" dirty="0"/>
          </a:p>
        </p:txBody>
      </p:sp>
      <p:sp>
        <p:nvSpPr>
          <p:cNvPr id="21" name="Text 19"/>
          <p:cNvSpPr/>
          <p:nvPr/>
        </p:nvSpPr>
        <p:spPr>
          <a:xfrm>
            <a:off x="4706764" y="1690092"/>
            <a:ext cx="3945880" cy="920874"/>
          </a:xfrm>
          <a:prstGeom prst="rect">
            <a:avLst/>
          </a:prstGeom>
          <a:noFill/>
          <a:ln/>
        </p:spPr>
        <p:txBody>
          <a:bodyPr wrap="square" lIns="0" tIns="0" rIns="0" bIns="0" rtlCol="0" anchor="t">
            <a:normAutofit/>
          </a:bodyPr>
          <a:lstStyle/>
          <a:p>
            <a:pPr algn="l" marL="162560" indent="-162560">
              <a:lnSpc>
                <a:spcPct val="124000"/>
              </a:lnSpc>
              <a:buSzPct val="100000"/>
              <a:buChar char="•"/>
            </a:pPr>
            <a:r>
              <a:rPr lang="en-US" sz="800" dirty="0">
                <a:solidFill>
                  <a:srgbClr val="504C49"/>
                </a:solidFill>
                <a:latin typeface="Source Serif 4" pitchFamily="34" charset="0"/>
                <a:ea typeface="Source Serif 4" pitchFamily="34" charset="-122"/>
                <a:cs typeface="Source Serif 4" pitchFamily="34" charset="-120"/>
              </a:rPr>
              <a:t>Department → Employee: One-to-Many</a:t>
            </a:r>
            <a:endParaRPr lang="en-US" sz="800" dirty="0"/>
          </a:p>
          <a:p>
            <a:pPr algn="l" marL="162560" indent="-162560">
              <a:lnSpc>
                <a:spcPct val="124000"/>
              </a:lnSpc>
              <a:buSzPct val="100000"/>
              <a:buChar char="•"/>
            </a:pPr>
            <a:r>
              <a:rPr lang="en-US" sz="800" dirty="0">
                <a:solidFill>
                  <a:srgbClr val="504C49"/>
                </a:solidFill>
                <a:latin typeface="Source Serif 4" pitchFamily="34" charset="0"/>
                <a:ea typeface="Source Serif 4" pitchFamily="34" charset="-122"/>
                <a:cs typeface="Source Serif 4" pitchFamily="34" charset="-120"/>
              </a:rPr>
              <a:t>Employee → Attendance: One-to-Many</a:t>
            </a:r>
            <a:endParaRPr lang="en-US" sz="800" dirty="0"/>
          </a:p>
          <a:p>
            <a:pPr algn="l" marL="162560" indent="-162560">
              <a:lnSpc>
                <a:spcPct val="124000"/>
              </a:lnSpc>
              <a:buSzPct val="100000"/>
              <a:buChar char="•"/>
            </a:pPr>
            <a:r>
              <a:rPr lang="en-US" sz="800" dirty="0">
                <a:solidFill>
                  <a:srgbClr val="504C49"/>
                </a:solidFill>
                <a:latin typeface="Source Serif 4" pitchFamily="34" charset="0"/>
                <a:ea typeface="Source Serif 4" pitchFamily="34" charset="-122"/>
                <a:cs typeface="Source Serif 4" pitchFamily="34" charset="-120"/>
              </a:rPr>
              <a:t>Employee → Performance: One-to-Many</a:t>
            </a:r>
            <a:endParaRPr lang="en-US" sz="800" dirty="0"/>
          </a:p>
          <a:p>
            <a:pPr algn="l" marL="162560" indent="-162560">
              <a:lnSpc>
                <a:spcPct val="124000"/>
              </a:lnSpc>
              <a:buSzPct val="100000"/>
              <a:buChar char="•"/>
            </a:pPr>
            <a:r>
              <a:rPr lang="en-US" sz="800" dirty="0">
                <a:solidFill>
                  <a:srgbClr val="504C49"/>
                </a:solidFill>
                <a:latin typeface="Source Serif 4" pitchFamily="34" charset="0"/>
                <a:ea typeface="Source Serif 4" pitchFamily="34" charset="-122"/>
                <a:cs typeface="Source Serif 4" pitchFamily="34" charset="-120"/>
              </a:rPr>
              <a:t>Employee → Burnout Prediction: One-to-Many</a:t>
            </a:r>
            <a:endParaRPr lang="en-US" sz="800" dirty="0"/>
          </a:p>
          <a:p>
            <a:pPr algn="l" marL="162560" indent="-162560">
              <a:lnSpc>
                <a:spcPct val="124000"/>
              </a:lnSpc>
              <a:buSzPct val="100000"/>
              <a:buChar char="•"/>
            </a:pPr>
            <a:r>
              <a:rPr lang="en-US" sz="800" dirty="0">
                <a:solidFill>
                  <a:srgbClr val="504C49"/>
                </a:solidFill>
                <a:latin typeface="Source Serif 4" pitchFamily="34" charset="0"/>
                <a:ea typeface="Source Serif 4" pitchFamily="34" charset="-122"/>
                <a:cs typeface="Source Serif 4" pitchFamily="34" charset="-120"/>
              </a:rPr>
              <a:t>User </a:t>
            </a:r>
            <a:pPr algn="l" marL="162560" indent="-162560">
              <a:lnSpc>
                <a:spcPct val="124000"/>
              </a:lnSpc>
              <a:buSzPct val="100000"/>
              <a:buChar char="•"/>
            </a:pPr>
            <a:r>
              <a:rPr lang="en-US" sz="800" dirty="0">
                <a:solidFill>
                  <a:srgbClr val="000000"/>
                </a:solidFill>
                <a:latin typeface="Source Serif 4" pitchFamily="34" charset="0"/>
                <a:ea typeface="Source Serif 4" pitchFamily="34" charset="-122"/>
                <a:cs typeface="Source Serif 4" pitchFamily="34" charset="-120"/>
              </a:rPr>
              <a:t>↔</a:t>
            </a:r>
            <a:pPr algn="l" marL="162560" indent="-162560">
              <a:lnSpc>
                <a:spcPct val="124000"/>
              </a:lnSpc>
              <a:buSzPct val="100000"/>
              <a:buChar char="•"/>
            </a:pPr>
            <a:r>
              <a:rPr lang="en-US" sz="800" dirty="0">
                <a:solidFill>
                  <a:srgbClr val="504C49"/>
                </a:solidFill>
                <a:latin typeface="Source Serif 4" pitchFamily="34" charset="0"/>
                <a:ea typeface="Source Serif 4" pitchFamily="34" charset="-122"/>
                <a:cs typeface="Source Serif 4" pitchFamily="34" charset="-120"/>
              </a:rPr>
              <a:t> Employee: One-to-One (if applicable)</a:t>
            </a:r>
            <a:endParaRPr lang="en-US" sz="800" dirty="0"/>
          </a:p>
        </p:txBody>
      </p:sp>
      <p:sp>
        <p:nvSpPr>
          <p:cNvPr id="22" name="Text 20"/>
          <p:cNvSpPr/>
          <p:nvPr/>
        </p:nvSpPr>
        <p:spPr>
          <a:xfrm>
            <a:off x="4706764" y="2702570"/>
            <a:ext cx="2061344" cy="166539"/>
          </a:xfrm>
          <a:prstGeom prst="rect">
            <a:avLst/>
          </a:prstGeom>
          <a:noFill/>
          <a:ln/>
        </p:spPr>
        <p:txBody>
          <a:bodyPr wrap="none" lIns="0" tIns="0" rIns="0" bIns="0" rtlCol="0" anchor="t"/>
          <a:lstStyle/>
          <a:p>
            <a:pPr algn="l" indent="0" marL="0">
              <a:lnSpc>
                <a:spcPct val="104000"/>
              </a:lnSpc>
              <a:buNone/>
            </a:pPr>
            <a:r>
              <a:rPr lang="en-US" sz="1000" dirty="0">
                <a:solidFill>
                  <a:srgbClr val="201B18"/>
                </a:solidFill>
                <a:latin typeface="Platypi Medium" pitchFamily="34" charset="0"/>
                <a:ea typeface="Platypi Medium" pitchFamily="34" charset="-122"/>
                <a:cs typeface="Platypi Medium" pitchFamily="34" charset="-120"/>
              </a:rPr>
              <a:t>Security &amp; Optimization</a:t>
            </a:r>
            <a:endParaRPr lang="en-US" sz="1000" dirty="0"/>
          </a:p>
        </p:txBody>
      </p:sp>
      <p:sp>
        <p:nvSpPr>
          <p:cNvPr id="23" name="Text 21"/>
          <p:cNvSpPr/>
          <p:nvPr/>
        </p:nvSpPr>
        <p:spPr>
          <a:xfrm>
            <a:off x="4706764" y="2960712"/>
            <a:ext cx="3945880" cy="920874"/>
          </a:xfrm>
          <a:prstGeom prst="rect">
            <a:avLst/>
          </a:prstGeom>
          <a:noFill/>
          <a:ln/>
        </p:spPr>
        <p:txBody>
          <a:bodyPr wrap="square" lIns="0" tIns="0" rIns="0" bIns="0" rtlCol="0" anchor="t">
            <a:normAutofit/>
          </a:bodyPr>
          <a:lstStyle/>
          <a:p>
            <a:pPr algn="l" marL="162560" indent="-162560">
              <a:lnSpc>
                <a:spcPct val="124000"/>
              </a:lnSpc>
              <a:buSzPct val="100000"/>
              <a:buChar char="•"/>
            </a:pPr>
            <a:r>
              <a:rPr lang="en-US" sz="800" dirty="0">
                <a:solidFill>
                  <a:srgbClr val="504C49"/>
                </a:solidFill>
                <a:latin typeface="Source Serif 4" pitchFamily="34" charset="0"/>
                <a:ea typeface="Source Serif 4" pitchFamily="34" charset="-122"/>
                <a:cs typeface="Source Serif 4" pitchFamily="34" charset="-120"/>
              </a:rPr>
              <a:t>Primary keys, foreign keys, UNIQUE, NOT NULL, and CHECK constraints</a:t>
            </a:r>
            <a:endParaRPr lang="en-US" sz="800" dirty="0"/>
          </a:p>
          <a:p>
            <a:pPr algn="l" marL="162560" indent="-162560">
              <a:lnSpc>
                <a:spcPct val="124000"/>
              </a:lnSpc>
              <a:buSzPct val="100000"/>
              <a:buChar char="•"/>
            </a:pPr>
            <a:r>
              <a:rPr lang="en-US" sz="800" dirty="0">
                <a:solidFill>
                  <a:srgbClr val="504C49"/>
                </a:solidFill>
                <a:latin typeface="Source Serif 4" pitchFamily="34" charset="0"/>
                <a:ea typeface="Source Serif 4" pitchFamily="34" charset="-122"/>
                <a:cs typeface="Source Serif 4" pitchFamily="34" charset="-120"/>
              </a:rPr>
              <a:t>Indexes on username, email, and employee_id columns</a:t>
            </a:r>
            <a:endParaRPr lang="en-US" sz="800" dirty="0"/>
          </a:p>
          <a:p>
            <a:pPr algn="l" marL="162560" indent="-162560">
              <a:lnSpc>
                <a:spcPct val="124000"/>
              </a:lnSpc>
              <a:buSzPct val="100000"/>
              <a:buChar char="•"/>
            </a:pPr>
            <a:r>
              <a:rPr lang="en-US" sz="800" dirty="0">
                <a:solidFill>
                  <a:srgbClr val="504C49"/>
                </a:solidFill>
                <a:latin typeface="Source Serif 4" pitchFamily="34" charset="0"/>
                <a:ea typeface="Source Serif 4" pitchFamily="34" charset="-122"/>
                <a:cs typeface="Source Serif 4" pitchFamily="34" charset="-120"/>
              </a:rPr>
              <a:t>Password hashing, role-based permissions, parameterized queries</a:t>
            </a:r>
            <a:endParaRPr lang="en-US" sz="800" dirty="0"/>
          </a:p>
          <a:p>
            <a:pPr algn="l" marL="162560" indent="-162560">
              <a:lnSpc>
                <a:spcPct val="124000"/>
              </a:lnSpc>
              <a:buSzPct val="100000"/>
              <a:buChar char="•"/>
            </a:pPr>
            <a:r>
              <a:rPr lang="en-US" sz="800" dirty="0">
                <a:solidFill>
                  <a:srgbClr val="504C49"/>
                </a:solidFill>
                <a:latin typeface="Source Serif 4" pitchFamily="34" charset="0"/>
                <a:ea typeface="Source Serif 4" pitchFamily="34" charset="-122"/>
                <a:cs typeface="Source Serif 4" pitchFamily="34" charset="-120"/>
              </a:rPr>
              <a:t>SQL injection prevention and database access restrictions</a:t>
            </a:r>
            <a:endParaRPr lang="en-US" sz="800" dirty="0"/>
          </a:p>
          <a:p>
            <a:pPr algn="l" marL="162560" indent="-162560">
              <a:lnSpc>
                <a:spcPct val="124000"/>
              </a:lnSpc>
              <a:buSzPct val="100000"/>
              <a:buChar char="•"/>
            </a:pPr>
            <a:r>
              <a:rPr lang="en-US" sz="800" dirty="0">
                <a:solidFill>
                  <a:srgbClr val="504C49"/>
                </a:solidFill>
                <a:latin typeface="Source Serif 4" pitchFamily="34" charset="0"/>
                <a:ea typeface="Source Serif 4" pitchFamily="34" charset="-122"/>
                <a:cs typeface="Source Serif 4" pitchFamily="34" charset="-120"/>
              </a:rPr>
              <a:t>Regular backups, transaction logging, and recovery procedures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385465"/>
            <a:ext cx="4535537" cy="381521"/>
          </a:xfrm>
          <a:prstGeom prst="rect">
            <a:avLst/>
          </a:prstGeom>
          <a:noFill/>
          <a:ln/>
        </p:spPr>
        <p:txBody>
          <a:bodyPr wrap="none" lIns="0" tIns="0" rIns="0" bIns="0" rtlCol="0" anchor="t"/>
          <a:lstStyle/>
          <a:p>
            <a:pPr algn="l" indent="0" marL="0">
              <a:lnSpc>
                <a:spcPct val="104000"/>
              </a:lnSpc>
              <a:buNone/>
            </a:pPr>
            <a:r>
              <a:rPr lang="en-US" sz="2400" dirty="0">
                <a:solidFill>
                  <a:srgbClr val="201B18"/>
                </a:solidFill>
                <a:latin typeface="Platypi Medium" pitchFamily="34" charset="0"/>
                <a:ea typeface="Platypi Medium" pitchFamily="34" charset="-122"/>
                <a:cs typeface="Platypi Medium" pitchFamily="34" charset="-120"/>
              </a:rPr>
              <a:t>Chapter 8: Implementation</a:t>
            </a:r>
            <a:endParaRPr lang="en-US" sz="2400" dirty="0"/>
          </a:p>
        </p:txBody>
      </p:sp>
      <p:sp>
        <p:nvSpPr>
          <p:cNvPr id="3" name="Text 1"/>
          <p:cNvSpPr/>
          <p:nvPr/>
        </p:nvSpPr>
        <p:spPr>
          <a:xfrm>
            <a:off x="496119" y="1007343"/>
            <a:ext cx="8151763" cy="387697"/>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504C49"/>
                </a:solidFill>
                <a:latin typeface="Source Serif 4" pitchFamily="34" charset="0"/>
                <a:ea typeface="Source Serif 4" pitchFamily="34" charset="-122"/>
                <a:cs typeface="Source Serif 4" pitchFamily="34" charset="-120"/>
              </a:rPr>
              <a:t>The system is implemented as a full-stack application with React.js frontend, Python FastAPI backend, PostgreSQL database, and Scikit-learn ML module. The project structure separates </a:t>
            </a:r>
            <a:pPr algn="l" indent="0" marL="0">
              <a:lnSpc>
                <a:spcPct val="132000"/>
              </a:lnSpc>
              <a:buNone/>
            </a:pPr>
            <a:r>
              <a:rPr lang="en-US" sz="950" dirty="0">
                <a:solidFill>
                  <a:srgbClr val="504C49"/>
                </a:solidFill>
                <a:highlight>
                  <a:srgbClr val="F2F2F2"/>
                </a:highlight>
                <a:latin typeface="Consolas" pitchFamily="34" charset="0"/>
                <a:ea typeface="Consolas" pitchFamily="34" charset="-122"/>
                <a:cs typeface="Consolas" pitchFamily="34" charset="-120"/>
              </a:rPr>
              <a:t>backend/</a:t>
            </a:r>
            <a:pPr algn="l" indent="0" marL="0">
              <a:lnSpc>
                <a:spcPct val="132000"/>
              </a:lnSpc>
              <a:buNone/>
            </a:pPr>
            <a:r>
              <a:rPr lang="en-US" sz="950" dirty="0">
                <a:solidFill>
                  <a:srgbClr val="504C49"/>
                </a:solidFill>
                <a:latin typeface="Source Serif 4" pitchFamily="34" charset="0"/>
                <a:ea typeface="Source Serif 4" pitchFamily="34" charset="-122"/>
                <a:cs typeface="Source Serif 4" pitchFamily="34" charset="-120"/>
              </a:rPr>
              <a:t>, </a:t>
            </a:r>
            <a:pPr algn="l" indent="0" marL="0">
              <a:lnSpc>
                <a:spcPct val="132000"/>
              </a:lnSpc>
              <a:buNone/>
            </a:pPr>
            <a:r>
              <a:rPr lang="en-US" sz="950" dirty="0">
                <a:solidFill>
                  <a:srgbClr val="504C49"/>
                </a:solidFill>
                <a:highlight>
                  <a:srgbClr val="F2F2F2"/>
                </a:highlight>
                <a:latin typeface="Consolas" pitchFamily="34" charset="0"/>
                <a:ea typeface="Consolas" pitchFamily="34" charset="-122"/>
                <a:cs typeface="Consolas" pitchFamily="34" charset="-120"/>
              </a:rPr>
              <a:t>frontend/</a:t>
            </a:r>
            <a:pPr algn="l" indent="0" marL="0">
              <a:lnSpc>
                <a:spcPct val="132000"/>
              </a:lnSpc>
              <a:buNone/>
            </a:pPr>
            <a:r>
              <a:rPr lang="en-US" sz="950" dirty="0">
                <a:solidFill>
                  <a:srgbClr val="504C49"/>
                </a:solidFill>
                <a:latin typeface="Source Serif 4" pitchFamily="34" charset="0"/>
                <a:ea typeface="Source Serif 4" pitchFamily="34" charset="-122"/>
                <a:cs typeface="Source Serif 4" pitchFamily="34" charset="-120"/>
              </a:rPr>
              <a:t>, </a:t>
            </a:r>
            <a:pPr algn="l" indent="0" marL="0">
              <a:lnSpc>
                <a:spcPct val="132000"/>
              </a:lnSpc>
              <a:buNone/>
            </a:pPr>
            <a:r>
              <a:rPr lang="en-US" sz="950" dirty="0">
                <a:solidFill>
                  <a:srgbClr val="504C49"/>
                </a:solidFill>
                <a:highlight>
                  <a:srgbClr val="F2F2F2"/>
                </a:highlight>
                <a:latin typeface="Consolas" pitchFamily="34" charset="0"/>
                <a:ea typeface="Consolas" pitchFamily="34" charset="-122"/>
                <a:cs typeface="Consolas" pitchFamily="34" charset="-120"/>
              </a:rPr>
              <a:t>ml/</a:t>
            </a:r>
            <a:pPr algn="l" indent="0" marL="0">
              <a:lnSpc>
                <a:spcPct val="132000"/>
              </a:lnSpc>
              <a:buNone/>
            </a:pPr>
            <a:r>
              <a:rPr lang="en-US" sz="950" dirty="0">
                <a:solidFill>
                  <a:srgbClr val="504C49"/>
                </a:solidFill>
                <a:latin typeface="Source Serif 4" pitchFamily="34" charset="0"/>
                <a:ea typeface="Source Serif 4" pitchFamily="34" charset="-122"/>
                <a:cs typeface="Source Serif 4" pitchFamily="34" charset="-120"/>
              </a:rPr>
              <a:t>, </a:t>
            </a:r>
            <a:pPr algn="l" indent="0" marL="0">
              <a:lnSpc>
                <a:spcPct val="132000"/>
              </a:lnSpc>
              <a:buNone/>
            </a:pPr>
            <a:r>
              <a:rPr lang="en-US" sz="950" dirty="0">
                <a:solidFill>
                  <a:srgbClr val="504C49"/>
                </a:solidFill>
                <a:highlight>
                  <a:srgbClr val="F2F2F2"/>
                </a:highlight>
                <a:latin typeface="Consolas" pitchFamily="34" charset="0"/>
                <a:ea typeface="Consolas" pitchFamily="34" charset="-122"/>
                <a:cs typeface="Consolas" pitchFamily="34" charset="-120"/>
              </a:rPr>
              <a:t>database/</a:t>
            </a:r>
            <a:pPr algn="l" indent="0" marL="0">
              <a:lnSpc>
                <a:spcPct val="132000"/>
              </a:lnSpc>
              <a:buNone/>
            </a:pPr>
            <a:r>
              <a:rPr lang="en-US" sz="950" dirty="0">
                <a:solidFill>
                  <a:srgbClr val="504C49"/>
                </a:solidFill>
                <a:latin typeface="Source Serif 4" pitchFamily="34" charset="0"/>
                <a:ea typeface="Source Serif 4" pitchFamily="34" charset="-122"/>
                <a:cs typeface="Source Serif 4" pitchFamily="34" charset="-120"/>
              </a:rPr>
              <a:t>, and </a:t>
            </a:r>
            <a:pPr algn="l" indent="0" marL="0">
              <a:lnSpc>
                <a:spcPct val="132000"/>
              </a:lnSpc>
              <a:buNone/>
            </a:pPr>
            <a:r>
              <a:rPr lang="en-US" sz="950" dirty="0">
                <a:solidFill>
                  <a:srgbClr val="504C49"/>
                </a:solidFill>
                <a:highlight>
                  <a:srgbClr val="F2F2F2"/>
                </a:highlight>
                <a:latin typeface="Consolas" pitchFamily="34" charset="0"/>
                <a:ea typeface="Consolas" pitchFamily="34" charset="-122"/>
                <a:cs typeface="Consolas" pitchFamily="34" charset="-120"/>
              </a:rPr>
              <a:t>docs/</a:t>
            </a:r>
            <a:pPr algn="l" indent="0" marL="0">
              <a:lnSpc>
                <a:spcPct val="132000"/>
              </a:lnSpc>
              <a:buNone/>
            </a:pPr>
            <a:r>
              <a:rPr lang="en-US" sz="950" dirty="0">
                <a:solidFill>
                  <a:srgbClr val="504C49"/>
                </a:solidFill>
                <a:latin typeface="Source Serif 4" pitchFamily="34" charset="0"/>
                <a:ea typeface="Source Serif 4" pitchFamily="34" charset="-122"/>
                <a:cs typeface="Source Serif 4" pitchFamily="34" charset="-120"/>
              </a:rPr>
              <a:t> directories for modular development.</a:t>
            </a:r>
            <a:endParaRPr lang="en-US" sz="9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530251"/>
            <a:ext cx="305246" cy="305246"/>
          </a:xfrm>
          <a:prstGeom prst="rect">
            <a:avLst/>
          </a:prstGeom>
        </p:spPr>
      </p:pic>
      <p:sp>
        <p:nvSpPr>
          <p:cNvPr id="5" name="Text 2"/>
          <p:cNvSpPr/>
          <p:nvPr/>
        </p:nvSpPr>
        <p:spPr>
          <a:xfrm>
            <a:off x="496119" y="1985739"/>
            <a:ext cx="1733178" cy="190723"/>
          </a:xfrm>
          <a:prstGeom prst="rect">
            <a:avLst/>
          </a:prstGeom>
          <a:noFill/>
          <a:ln/>
        </p:spPr>
        <p:txBody>
          <a:bodyPr wrap="none" lIns="0" tIns="0" rIns="0" bIns="0" rtlCol="0" anchor="t"/>
          <a:lstStyle/>
          <a:p>
            <a:pPr algn="l" indent="0" marL="0">
              <a:lnSpc>
                <a:spcPct val="104000"/>
              </a:lnSpc>
              <a:buNone/>
            </a:pPr>
            <a:r>
              <a:rPr lang="en-US" sz="1200" dirty="0">
                <a:solidFill>
                  <a:srgbClr val="504C49"/>
                </a:solidFill>
                <a:latin typeface="Platypi Medium" pitchFamily="34" charset="0"/>
                <a:ea typeface="Platypi Medium" pitchFamily="34" charset="-122"/>
                <a:cs typeface="Platypi Medium" pitchFamily="34" charset="-120"/>
              </a:rPr>
              <a:t>Authentication Module</a:t>
            </a:r>
            <a:endParaRPr lang="en-US" sz="1200" dirty="0"/>
          </a:p>
        </p:txBody>
      </p:sp>
      <p:sp>
        <p:nvSpPr>
          <p:cNvPr id="6" name="Text 3"/>
          <p:cNvSpPr/>
          <p:nvPr/>
        </p:nvSpPr>
        <p:spPr>
          <a:xfrm>
            <a:off x="496119" y="2248570"/>
            <a:ext cx="4000723" cy="581546"/>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504C49"/>
                </a:solidFill>
                <a:latin typeface="Source Serif 4" pitchFamily="34" charset="0"/>
                <a:ea typeface="Source Serif 4" pitchFamily="34" charset="-122"/>
                <a:cs typeface="Source Serif 4" pitchFamily="34" charset="-120"/>
              </a:rPr>
              <a:t>JWT-based authentication with secure login, logout, protected routes, and Role-Based Access Control (RBAC) for Administrators, HR Managers, and Employees.</a:t>
            </a:r>
            <a:endParaRPr lang="en-US" sz="9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47084" y="1530251"/>
            <a:ext cx="305246" cy="305246"/>
          </a:xfrm>
          <a:prstGeom prst="rect">
            <a:avLst/>
          </a:prstGeom>
        </p:spPr>
      </p:pic>
      <p:sp>
        <p:nvSpPr>
          <p:cNvPr id="8" name="Text 4"/>
          <p:cNvSpPr/>
          <p:nvPr/>
        </p:nvSpPr>
        <p:spPr>
          <a:xfrm>
            <a:off x="4647084" y="1985739"/>
            <a:ext cx="1616869" cy="190723"/>
          </a:xfrm>
          <a:prstGeom prst="rect">
            <a:avLst/>
          </a:prstGeom>
          <a:noFill/>
          <a:ln/>
        </p:spPr>
        <p:txBody>
          <a:bodyPr wrap="none" lIns="0" tIns="0" rIns="0" bIns="0" rtlCol="0" anchor="t"/>
          <a:lstStyle/>
          <a:p>
            <a:pPr algn="l" indent="0" marL="0">
              <a:lnSpc>
                <a:spcPct val="104000"/>
              </a:lnSpc>
              <a:buNone/>
            </a:pPr>
            <a:r>
              <a:rPr lang="en-US" sz="1200" dirty="0">
                <a:solidFill>
                  <a:srgbClr val="504C49"/>
                </a:solidFill>
                <a:latin typeface="Platypi Medium" pitchFamily="34" charset="0"/>
                <a:ea typeface="Platypi Medium" pitchFamily="34" charset="-122"/>
                <a:cs typeface="Platypi Medium" pitchFamily="34" charset="-120"/>
              </a:rPr>
              <a:t>Backend &amp; REST APIs</a:t>
            </a:r>
            <a:endParaRPr lang="en-US" sz="1200" dirty="0"/>
          </a:p>
        </p:txBody>
      </p:sp>
      <p:sp>
        <p:nvSpPr>
          <p:cNvPr id="9" name="Text 5"/>
          <p:cNvSpPr/>
          <p:nvPr/>
        </p:nvSpPr>
        <p:spPr>
          <a:xfrm>
            <a:off x="4647084" y="2248570"/>
            <a:ext cx="4000798" cy="775395"/>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504C49"/>
                </a:solidFill>
                <a:latin typeface="Source Serif 4" pitchFamily="34" charset="0"/>
                <a:ea typeface="Source Serif 4" pitchFamily="34" charset="-122"/>
                <a:cs typeface="Source Serif 4" pitchFamily="34" charset="-120"/>
              </a:rPr>
              <a:t>FastAPI exposes endpoints: </a:t>
            </a:r>
            <a:pPr algn="l" indent="0" marL="0">
              <a:lnSpc>
                <a:spcPct val="132000"/>
              </a:lnSpc>
              <a:buNone/>
            </a:pPr>
            <a:r>
              <a:rPr lang="en-US" sz="950" dirty="0">
                <a:solidFill>
                  <a:srgbClr val="504C49"/>
                </a:solidFill>
                <a:highlight>
                  <a:srgbClr val="F2F2F2"/>
                </a:highlight>
                <a:latin typeface="Consolas" pitchFamily="34" charset="0"/>
                <a:ea typeface="Consolas" pitchFamily="34" charset="-122"/>
                <a:cs typeface="Consolas" pitchFamily="34" charset="-120"/>
              </a:rPr>
              <a:t>POST /login</a:t>
            </a:r>
            <a:pPr algn="l" indent="0" marL="0">
              <a:lnSpc>
                <a:spcPct val="132000"/>
              </a:lnSpc>
              <a:buNone/>
            </a:pPr>
            <a:r>
              <a:rPr lang="en-US" sz="950" dirty="0">
                <a:solidFill>
                  <a:srgbClr val="504C49"/>
                </a:solidFill>
                <a:latin typeface="Source Serif 4" pitchFamily="34" charset="0"/>
                <a:ea typeface="Source Serif 4" pitchFamily="34" charset="-122"/>
                <a:cs typeface="Source Serif 4" pitchFamily="34" charset="-120"/>
              </a:rPr>
              <a:t>, </a:t>
            </a:r>
            <a:pPr algn="l" indent="0" marL="0">
              <a:lnSpc>
                <a:spcPct val="132000"/>
              </a:lnSpc>
              <a:buNone/>
            </a:pPr>
            <a:r>
              <a:rPr lang="en-US" sz="950" dirty="0">
                <a:solidFill>
                  <a:srgbClr val="504C49"/>
                </a:solidFill>
                <a:highlight>
                  <a:srgbClr val="F2F2F2"/>
                </a:highlight>
                <a:latin typeface="Consolas" pitchFamily="34" charset="0"/>
                <a:ea typeface="Consolas" pitchFamily="34" charset="-122"/>
                <a:cs typeface="Consolas" pitchFamily="34" charset="-120"/>
              </a:rPr>
              <a:t>GET/POST/PUT/DELETE /employees</a:t>
            </a:r>
            <a:pPr algn="l" indent="0" marL="0">
              <a:lnSpc>
                <a:spcPct val="132000"/>
              </a:lnSpc>
              <a:buNone/>
            </a:pPr>
            <a:r>
              <a:rPr lang="en-US" sz="950" dirty="0">
                <a:solidFill>
                  <a:srgbClr val="504C49"/>
                </a:solidFill>
                <a:latin typeface="Source Serif 4" pitchFamily="34" charset="0"/>
                <a:ea typeface="Source Serif 4" pitchFamily="34" charset="-122"/>
                <a:cs typeface="Source Serif 4" pitchFamily="34" charset="-120"/>
              </a:rPr>
              <a:t>, and </a:t>
            </a:r>
            <a:pPr algn="l" indent="0" marL="0">
              <a:lnSpc>
                <a:spcPct val="132000"/>
              </a:lnSpc>
              <a:buNone/>
            </a:pPr>
            <a:r>
              <a:rPr lang="en-US" sz="950" dirty="0">
                <a:solidFill>
                  <a:srgbClr val="504C49"/>
                </a:solidFill>
                <a:highlight>
                  <a:srgbClr val="F2F2F2"/>
                </a:highlight>
                <a:latin typeface="Consolas" pitchFamily="34" charset="0"/>
                <a:ea typeface="Consolas" pitchFamily="34" charset="-122"/>
                <a:cs typeface="Consolas" pitchFamily="34" charset="-120"/>
              </a:rPr>
              <a:t>POST /predict</a:t>
            </a:r>
            <a:pPr algn="l" indent="0" marL="0">
              <a:lnSpc>
                <a:spcPct val="132000"/>
              </a:lnSpc>
              <a:buNone/>
            </a:pPr>
            <a:r>
              <a:rPr lang="en-US" sz="950" dirty="0">
                <a:solidFill>
                  <a:srgbClr val="504C49"/>
                </a:solidFill>
                <a:latin typeface="Source Serif 4" pitchFamily="34" charset="0"/>
                <a:ea typeface="Source Serif 4" pitchFamily="34" charset="-122"/>
                <a:cs typeface="Source Serif 4" pitchFamily="34" charset="-120"/>
              </a:rPr>
              <a:t> for burnout inference. Input validation, CORS configuration, and exception handling ensure robust communication.</a:t>
            </a:r>
            <a:endParaRPr lang="en-US" sz="9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3264322"/>
            <a:ext cx="305246" cy="305246"/>
          </a:xfrm>
          <a:prstGeom prst="rect">
            <a:avLst/>
          </a:prstGeom>
        </p:spPr>
      </p:pic>
      <p:sp>
        <p:nvSpPr>
          <p:cNvPr id="11" name="Text 6"/>
          <p:cNvSpPr/>
          <p:nvPr/>
        </p:nvSpPr>
        <p:spPr>
          <a:xfrm>
            <a:off x="496119" y="3719810"/>
            <a:ext cx="1526307" cy="190723"/>
          </a:xfrm>
          <a:prstGeom prst="rect">
            <a:avLst/>
          </a:prstGeom>
          <a:noFill/>
          <a:ln/>
        </p:spPr>
        <p:txBody>
          <a:bodyPr wrap="none" lIns="0" tIns="0" rIns="0" bIns="0" rtlCol="0" anchor="t"/>
          <a:lstStyle/>
          <a:p>
            <a:pPr algn="l" indent="0" marL="0">
              <a:lnSpc>
                <a:spcPct val="104000"/>
              </a:lnSpc>
              <a:buNone/>
            </a:pPr>
            <a:r>
              <a:rPr lang="en-US" sz="1200" dirty="0">
                <a:solidFill>
                  <a:srgbClr val="504C49"/>
                </a:solidFill>
                <a:latin typeface="Platypi Medium" pitchFamily="34" charset="0"/>
                <a:ea typeface="Platypi Medium" pitchFamily="34" charset="-122"/>
                <a:cs typeface="Platypi Medium" pitchFamily="34" charset="-120"/>
              </a:rPr>
              <a:t>ML Module</a:t>
            </a:r>
            <a:endParaRPr lang="en-US" sz="1200" dirty="0"/>
          </a:p>
        </p:txBody>
      </p:sp>
      <p:sp>
        <p:nvSpPr>
          <p:cNvPr id="12" name="Text 7"/>
          <p:cNvSpPr/>
          <p:nvPr/>
        </p:nvSpPr>
        <p:spPr>
          <a:xfrm>
            <a:off x="496119" y="3982641"/>
            <a:ext cx="4000723" cy="775395"/>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504C49"/>
                </a:solidFill>
                <a:latin typeface="Source Serif 4" pitchFamily="34" charset="0"/>
                <a:ea typeface="Source Serif 4" pitchFamily="34" charset="-122"/>
                <a:cs typeface="Source Serif 4" pitchFamily="34" charset="-120"/>
              </a:rPr>
              <a:t>Scikit-learn pipeline handles dataset preprocessing, feature engineering, model training, and evaluation. Prediction results (burnout score and risk level) are stored in PostgreSQL and returned via API.</a:t>
            </a:r>
            <a:endParaRPr lang="en-US" sz="95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47084" y="3264322"/>
            <a:ext cx="305246" cy="305246"/>
          </a:xfrm>
          <a:prstGeom prst="rect">
            <a:avLst/>
          </a:prstGeom>
        </p:spPr>
      </p:pic>
      <p:sp>
        <p:nvSpPr>
          <p:cNvPr id="14" name="Text 8"/>
          <p:cNvSpPr/>
          <p:nvPr/>
        </p:nvSpPr>
        <p:spPr>
          <a:xfrm>
            <a:off x="4647084" y="3719810"/>
            <a:ext cx="1526307" cy="190723"/>
          </a:xfrm>
          <a:prstGeom prst="rect">
            <a:avLst/>
          </a:prstGeom>
          <a:noFill/>
          <a:ln/>
        </p:spPr>
        <p:txBody>
          <a:bodyPr wrap="none" lIns="0" tIns="0" rIns="0" bIns="0" rtlCol="0" anchor="t"/>
          <a:lstStyle/>
          <a:p>
            <a:pPr algn="l" indent="0" marL="0">
              <a:lnSpc>
                <a:spcPct val="104000"/>
              </a:lnSpc>
              <a:buNone/>
            </a:pPr>
            <a:r>
              <a:rPr lang="en-US" sz="1200" dirty="0">
                <a:solidFill>
                  <a:srgbClr val="504C49"/>
                </a:solidFill>
                <a:latin typeface="Platypi Medium" pitchFamily="34" charset="0"/>
                <a:ea typeface="Platypi Medium" pitchFamily="34" charset="-122"/>
                <a:cs typeface="Platypi Medium" pitchFamily="34" charset="-120"/>
              </a:rPr>
              <a:t>Frontend</a:t>
            </a:r>
            <a:endParaRPr lang="en-US" sz="1200" dirty="0"/>
          </a:p>
        </p:txBody>
      </p:sp>
      <p:sp>
        <p:nvSpPr>
          <p:cNvPr id="15" name="Text 9"/>
          <p:cNvSpPr/>
          <p:nvPr/>
        </p:nvSpPr>
        <p:spPr>
          <a:xfrm>
            <a:off x="4647084" y="3982641"/>
            <a:ext cx="4000798" cy="581546"/>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504C49"/>
                </a:solidFill>
                <a:latin typeface="Source Serif 4" pitchFamily="34" charset="0"/>
                <a:ea typeface="Source Serif 4" pitchFamily="34" charset="-122"/>
                <a:cs typeface="Source Serif 4" pitchFamily="34" charset="-120"/>
              </a:rPr>
              <a:t>React.js pages include Login, Dashboard, Employee Management, Department, Attendance, Performance, Burnout Prediction, and Reports. Responsive design with interactive charts and analytics.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342230"/>
            <a:ext cx="2928417" cy="308893"/>
          </a:xfrm>
          <a:prstGeom prst="rect">
            <a:avLst/>
          </a:prstGeom>
          <a:noFill/>
          <a:ln/>
        </p:spPr>
        <p:txBody>
          <a:bodyPr wrap="none" lIns="0" tIns="0" rIns="0" bIns="0" rtlCol="0" anchor="t"/>
          <a:lstStyle/>
          <a:p>
            <a:pPr algn="l" indent="0" marL="0">
              <a:lnSpc>
                <a:spcPct val="104000"/>
              </a:lnSpc>
              <a:buNone/>
            </a:pPr>
            <a:r>
              <a:rPr lang="en-US" sz="1900" dirty="0">
                <a:solidFill>
                  <a:srgbClr val="201B18"/>
                </a:solidFill>
                <a:latin typeface="Platypi Medium" pitchFamily="34" charset="0"/>
                <a:ea typeface="Platypi Medium" pitchFamily="34" charset="-122"/>
                <a:cs typeface="Platypi Medium" pitchFamily="34" charset="-120"/>
              </a:rPr>
              <a:t>Chapter 9: Testing</a:t>
            </a:r>
            <a:endParaRPr lang="en-US" sz="1900" dirty="0"/>
          </a:p>
        </p:txBody>
      </p:sp>
      <p:sp>
        <p:nvSpPr>
          <p:cNvPr id="3" name="Text 1"/>
          <p:cNvSpPr/>
          <p:nvPr/>
        </p:nvSpPr>
        <p:spPr>
          <a:xfrm>
            <a:off x="496119" y="808658"/>
            <a:ext cx="8151763" cy="284113"/>
          </a:xfrm>
          <a:prstGeom prst="rect">
            <a:avLst/>
          </a:prstGeom>
          <a:noFill/>
          <a:ln/>
        </p:spPr>
        <p:txBody>
          <a:bodyPr wrap="square" lIns="0" tIns="0" rIns="0" bIns="0" rtlCol="0" anchor="t">
            <a:normAutofit/>
          </a:bodyPr>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Multiple testing levels were performed to verify correctness, reliability, security, and performance. All modules passed unit testing, integration testing confirmed successful data exchange between frontend, backend, database, and ML module, and system testing validated all major features against project requirements.</a:t>
            </a:r>
            <a:endParaRPr lang="en-US" sz="750" dirty="0"/>
          </a:p>
        </p:txBody>
      </p:sp>
      <p:sp>
        <p:nvSpPr>
          <p:cNvPr id="4" name="Text 2"/>
          <p:cNvSpPr/>
          <p:nvPr/>
        </p:nvSpPr>
        <p:spPr>
          <a:xfrm>
            <a:off x="496119" y="1260053"/>
            <a:ext cx="1724620" cy="154409"/>
          </a:xfrm>
          <a:prstGeom prst="rect">
            <a:avLst/>
          </a:prstGeom>
          <a:noFill/>
          <a:ln/>
        </p:spPr>
        <p:txBody>
          <a:bodyPr wrap="none" lIns="0" tIns="0" rIns="0" bIns="0" rtlCol="0" anchor="t"/>
          <a:lstStyle/>
          <a:p>
            <a:pPr algn="l" indent="0" marL="0">
              <a:lnSpc>
                <a:spcPct val="104000"/>
              </a:lnSpc>
              <a:buNone/>
            </a:pPr>
            <a:r>
              <a:rPr lang="en-US" sz="950" dirty="0">
                <a:solidFill>
                  <a:srgbClr val="201B18"/>
                </a:solidFill>
                <a:latin typeface="Platypi Medium" pitchFamily="34" charset="0"/>
                <a:ea typeface="Platypi Medium" pitchFamily="34" charset="-122"/>
                <a:cs typeface="Platypi Medium" pitchFamily="34" charset="-120"/>
              </a:rPr>
              <a:t>Test Cases Summary</a:t>
            </a:r>
            <a:endParaRPr lang="en-US" sz="950" dirty="0"/>
          </a:p>
        </p:txBody>
      </p:sp>
      <p:sp>
        <p:nvSpPr>
          <p:cNvPr id="5" name="Shape 3"/>
          <p:cNvSpPr/>
          <p:nvPr/>
        </p:nvSpPr>
        <p:spPr>
          <a:xfrm>
            <a:off x="496119" y="1503015"/>
            <a:ext cx="3955331" cy="2011561"/>
          </a:xfrm>
          <a:prstGeom prst="roundRect">
            <a:avLst>
              <a:gd name="adj" fmla="val 737"/>
            </a:avLst>
          </a:prstGeom>
          <a:noFill/>
          <a:ln w="4763">
            <a:solidFill>
              <a:srgbClr val="000000">
                <a:alpha val="8000"/>
              </a:srgbClr>
            </a:solidFill>
            <a:prstDash val="solid"/>
          </a:ln>
        </p:spPr>
      </p:sp>
      <p:sp>
        <p:nvSpPr>
          <p:cNvPr id="6" name="Text 4"/>
          <p:cNvSpPr/>
          <p:nvPr/>
        </p:nvSpPr>
        <p:spPr>
          <a:xfrm>
            <a:off x="600149" y="1559793"/>
            <a:ext cx="1574527" cy="142056"/>
          </a:xfrm>
          <a:prstGeom prst="rect">
            <a:avLst/>
          </a:prstGeom>
          <a:noFill/>
          <a:ln/>
        </p:spPr>
        <p:txBody>
          <a:bodyPr wrap="none" lIns="0" tIns="0" rIns="0" bIns="0" rtlCol="0" anchor="t"/>
          <a:lstStyle/>
          <a:p>
            <a:pPr algn="l" indent="0" marL="0">
              <a:lnSpc>
                <a:spcPct val="120000"/>
              </a:lnSpc>
              <a:buNone/>
            </a:pPr>
            <a:r>
              <a:rPr lang="en-US" sz="750" b="1" dirty="0">
                <a:solidFill>
                  <a:srgbClr val="504C49"/>
                </a:solidFill>
                <a:latin typeface="Source Serif 4 Bold" pitchFamily="34" charset="0"/>
                <a:ea typeface="Source Serif 4 Bold" pitchFamily="34" charset="-122"/>
                <a:cs typeface="Source Serif 4 Bold" pitchFamily="34" charset="-120"/>
              </a:rPr>
              <a:t>Test Case</a:t>
            </a:r>
            <a:endParaRPr lang="en-US" sz="750" dirty="0"/>
          </a:p>
        </p:txBody>
      </p:sp>
      <p:sp>
        <p:nvSpPr>
          <p:cNvPr id="7" name="Text 5"/>
          <p:cNvSpPr/>
          <p:nvPr/>
        </p:nvSpPr>
        <p:spPr>
          <a:xfrm>
            <a:off x="1915120" y="1559793"/>
            <a:ext cx="1574527" cy="142056"/>
          </a:xfrm>
          <a:prstGeom prst="rect">
            <a:avLst/>
          </a:prstGeom>
          <a:noFill/>
          <a:ln/>
        </p:spPr>
        <p:txBody>
          <a:bodyPr wrap="none" lIns="0" tIns="0" rIns="0" bIns="0" rtlCol="0" anchor="t"/>
          <a:lstStyle/>
          <a:p>
            <a:pPr algn="l" indent="0" marL="0">
              <a:lnSpc>
                <a:spcPct val="120000"/>
              </a:lnSpc>
              <a:buNone/>
            </a:pPr>
            <a:r>
              <a:rPr lang="en-US" sz="750" b="1" dirty="0">
                <a:solidFill>
                  <a:srgbClr val="504C49"/>
                </a:solidFill>
                <a:latin typeface="Source Serif 4 Bold" pitchFamily="34" charset="0"/>
                <a:ea typeface="Source Serif 4 Bold" pitchFamily="34" charset="-122"/>
                <a:cs typeface="Source Serif 4 Bold" pitchFamily="34" charset="-120"/>
              </a:rPr>
              <a:t>Scenario</a:t>
            </a:r>
            <a:endParaRPr lang="en-US" sz="750" dirty="0"/>
          </a:p>
        </p:txBody>
      </p:sp>
      <p:sp>
        <p:nvSpPr>
          <p:cNvPr id="8" name="Text 6"/>
          <p:cNvSpPr/>
          <p:nvPr/>
        </p:nvSpPr>
        <p:spPr>
          <a:xfrm>
            <a:off x="3230091" y="1559793"/>
            <a:ext cx="1574527" cy="142056"/>
          </a:xfrm>
          <a:prstGeom prst="rect">
            <a:avLst/>
          </a:prstGeom>
          <a:noFill/>
          <a:ln/>
        </p:spPr>
        <p:txBody>
          <a:bodyPr wrap="none" lIns="0" tIns="0" rIns="0" bIns="0" rtlCol="0" anchor="t"/>
          <a:lstStyle/>
          <a:p>
            <a:pPr algn="l" indent="0" marL="0">
              <a:lnSpc>
                <a:spcPct val="120000"/>
              </a:lnSpc>
              <a:buNone/>
            </a:pPr>
            <a:r>
              <a:rPr lang="en-US" sz="750" b="1" dirty="0">
                <a:solidFill>
                  <a:srgbClr val="504C49"/>
                </a:solidFill>
                <a:latin typeface="Source Serif 4 Bold" pitchFamily="34" charset="0"/>
                <a:ea typeface="Source Serif 4 Bold" pitchFamily="34" charset="-122"/>
                <a:cs typeface="Source Serif 4 Bold" pitchFamily="34" charset="-120"/>
              </a:rPr>
              <a:t>Result</a:t>
            </a:r>
            <a:endParaRPr lang="en-US" sz="750" dirty="0"/>
          </a:p>
        </p:txBody>
      </p:sp>
      <p:sp>
        <p:nvSpPr>
          <p:cNvPr id="9" name="Text 7"/>
          <p:cNvSpPr/>
          <p:nvPr/>
        </p:nvSpPr>
        <p:spPr>
          <a:xfrm>
            <a:off x="600149" y="1810643"/>
            <a:ext cx="1574527" cy="142056"/>
          </a:xfrm>
          <a:prstGeom prst="rect">
            <a:avLst/>
          </a:prstGeom>
          <a:noFill/>
          <a:ln/>
        </p:spPr>
        <p:txBody>
          <a:bodyPr wrap="none" lIns="0" tIns="0" rIns="0" bIns="0" rtlCol="0" anchor="t"/>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TC-01</a:t>
            </a:r>
            <a:endParaRPr lang="en-US" sz="750" dirty="0"/>
          </a:p>
        </p:txBody>
      </p:sp>
      <p:sp>
        <p:nvSpPr>
          <p:cNvPr id="10" name="Text 8"/>
          <p:cNvSpPr/>
          <p:nvPr/>
        </p:nvSpPr>
        <p:spPr>
          <a:xfrm>
            <a:off x="1915120" y="1810643"/>
            <a:ext cx="1574527" cy="142056"/>
          </a:xfrm>
          <a:prstGeom prst="rect">
            <a:avLst/>
          </a:prstGeom>
          <a:noFill/>
          <a:ln/>
        </p:spPr>
        <p:txBody>
          <a:bodyPr wrap="none" lIns="0" tIns="0" rIns="0" bIns="0" rtlCol="0" anchor="t"/>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User Login</a:t>
            </a:r>
            <a:endParaRPr lang="en-US" sz="750" dirty="0"/>
          </a:p>
        </p:txBody>
      </p:sp>
      <p:sp>
        <p:nvSpPr>
          <p:cNvPr id="11" name="Text 9"/>
          <p:cNvSpPr/>
          <p:nvPr/>
        </p:nvSpPr>
        <p:spPr>
          <a:xfrm>
            <a:off x="3230091" y="1810643"/>
            <a:ext cx="1574527" cy="142056"/>
          </a:xfrm>
          <a:prstGeom prst="rect">
            <a:avLst/>
          </a:prstGeom>
          <a:noFill/>
          <a:ln/>
        </p:spPr>
        <p:txBody>
          <a:bodyPr wrap="none" lIns="0" tIns="0" rIns="0" bIns="0" rtlCol="0" anchor="t"/>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Pass</a:t>
            </a:r>
            <a:endParaRPr lang="en-US" sz="750" dirty="0"/>
          </a:p>
        </p:txBody>
      </p:sp>
      <p:sp>
        <p:nvSpPr>
          <p:cNvPr id="12" name="Text 10"/>
          <p:cNvSpPr/>
          <p:nvPr/>
        </p:nvSpPr>
        <p:spPr>
          <a:xfrm>
            <a:off x="600149" y="2061493"/>
            <a:ext cx="1574527" cy="142056"/>
          </a:xfrm>
          <a:prstGeom prst="rect">
            <a:avLst/>
          </a:prstGeom>
          <a:noFill/>
          <a:ln/>
        </p:spPr>
        <p:txBody>
          <a:bodyPr wrap="none" lIns="0" tIns="0" rIns="0" bIns="0" rtlCol="0" anchor="t"/>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TC-02</a:t>
            </a:r>
            <a:endParaRPr lang="en-US" sz="750" dirty="0"/>
          </a:p>
        </p:txBody>
      </p:sp>
      <p:sp>
        <p:nvSpPr>
          <p:cNvPr id="13" name="Text 11"/>
          <p:cNvSpPr/>
          <p:nvPr/>
        </p:nvSpPr>
        <p:spPr>
          <a:xfrm>
            <a:off x="1915120" y="2061493"/>
            <a:ext cx="1574527" cy="142056"/>
          </a:xfrm>
          <a:prstGeom prst="rect">
            <a:avLst/>
          </a:prstGeom>
          <a:noFill/>
          <a:ln/>
        </p:spPr>
        <p:txBody>
          <a:bodyPr wrap="none" lIns="0" tIns="0" rIns="0" bIns="0" rtlCol="0" anchor="t"/>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Invalid Login</a:t>
            </a:r>
            <a:endParaRPr lang="en-US" sz="750" dirty="0"/>
          </a:p>
        </p:txBody>
      </p:sp>
      <p:sp>
        <p:nvSpPr>
          <p:cNvPr id="14" name="Text 12"/>
          <p:cNvSpPr/>
          <p:nvPr/>
        </p:nvSpPr>
        <p:spPr>
          <a:xfrm>
            <a:off x="3230091" y="2061493"/>
            <a:ext cx="1574527" cy="142056"/>
          </a:xfrm>
          <a:prstGeom prst="rect">
            <a:avLst/>
          </a:prstGeom>
          <a:noFill/>
          <a:ln/>
        </p:spPr>
        <p:txBody>
          <a:bodyPr wrap="none" lIns="0" tIns="0" rIns="0" bIns="0" rtlCol="0" anchor="t"/>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Pass</a:t>
            </a:r>
            <a:endParaRPr lang="en-US" sz="750" dirty="0"/>
          </a:p>
        </p:txBody>
      </p:sp>
      <p:sp>
        <p:nvSpPr>
          <p:cNvPr id="15" name="Text 13"/>
          <p:cNvSpPr/>
          <p:nvPr/>
        </p:nvSpPr>
        <p:spPr>
          <a:xfrm>
            <a:off x="600149" y="2312343"/>
            <a:ext cx="1574527" cy="142056"/>
          </a:xfrm>
          <a:prstGeom prst="rect">
            <a:avLst/>
          </a:prstGeom>
          <a:noFill/>
          <a:ln/>
        </p:spPr>
        <p:txBody>
          <a:bodyPr wrap="none" lIns="0" tIns="0" rIns="0" bIns="0" rtlCol="0" anchor="t"/>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TC-03</a:t>
            </a:r>
            <a:endParaRPr lang="en-US" sz="750" dirty="0"/>
          </a:p>
        </p:txBody>
      </p:sp>
      <p:sp>
        <p:nvSpPr>
          <p:cNvPr id="16" name="Text 14"/>
          <p:cNvSpPr/>
          <p:nvPr/>
        </p:nvSpPr>
        <p:spPr>
          <a:xfrm>
            <a:off x="1915120" y="2312343"/>
            <a:ext cx="1574527" cy="142056"/>
          </a:xfrm>
          <a:prstGeom prst="rect">
            <a:avLst/>
          </a:prstGeom>
          <a:noFill/>
          <a:ln/>
        </p:spPr>
        <p:txBody>
          <a:bodyPr wrap="none" lIns="0" tIns="0" rIns="0" bIns="0" rtlCol="0" anchor="t"/>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Add Employee</a:t>
            </a:r>
            <a:endParaRPr lang="en-US" sz="750" dirty="0"/>
          </a:p>
        </p:txBody>
      </p:sp>
      <p:sp>
        <p:nvSpPr>
          <p:cNvPr id="17" name="Text 15"/>
          <p:cNvSpPr/>
          <p:nvPr/>
        </p:nvSpPr>
        <p:spPr>
          <a:xfrm>
            <a:off x="3230091" y="2312343"/>
            <a:ext cx="1574527" cy="142056"/>
          </a:xfrm>
          <a:prstGeom prst="rect">
            <a:avLst/>
          </a:prstGeom>
          <a:noFill/>
          <a:ln/>
        </p:spPr>
        <p:txBody>
          <a:bodyPr wrap="none" lIns="0" tIns="0" rIns="0" bIns="0" rtlCol="0" anchor="t"/>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Pass</a:t>
            </a:r>
            <a:endParaRPr lang="en-US" sz="750" dirty="0"/>
          </a:p>
        </p:txBody>
      </p:sp>
      <p:sp>
        <p:nvSpPr>
          <p:cNvPr id="18" name="Text 16"/>
          <p:cNvSpPr/>
          <p:nvPr/>
        </p:nvSpPr>
        <p:spPr>
          <a:xfrm>
            <a:off x="600149" y="2563192"/>
            <a:ext cx="1574527" cy="142056"/>
          </a:xfrm>
          <a:prstGeom prst="rect">
            <a:avLst/>
          </a:prstGeom>
          <a:noFill/>
          <a:ln/>
        </p:spPr>
        <p:txBody>
          <a:bodyPr wrap="none" lIns="0" tIns="0" rIns="0" bIns="0" rtlCol="0" anchor="t"/>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TC-04</a:t>
            </a:r>
            <a:endParaRPr lang="en-US" sz="750" dirty="0"/>
          </a:p>
        </p:txBody>
      </p:sp>
      <p:sp>
        <p:nvSpPr>
          <p:cNvPr id="19" name="Text 17"/>
          <p:cNvSpPr/>
          <p:nvPr/>
        </p:nvSpPr>
        <p:spPr>
          <a:xfrm>
            <a:off x="1915120" y="2563192"/>
            <a:ext cx="1574527" cy="142056"/>
          </a:xfrm>
          <a:prstGeom prst="rect">
            <a:avLst/>
          </a:prstGeom>
          <a:noFill/>
          <a:ln/>
        </p:spPr>
        <p:txBody>
          <a:bodyPr wrap="none" lIns="0" tIns="0" rIns="0" bIns="0" rtlCol="0" anchor="t"/>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Update Employee</a:t>
            </a:r>
            <a:endParaRPr lang="en-US" sz="750" dirty="0"/>
          </a:p>
        </p:txBody>
      </p:sp>
      <p:sp>
        <p:nvSpPr>
          <p:cNvPr id="20" name="Text 18"/>
          <p:cNvSpPr/>
          <p:nvPr/>
        </p:nvSpPr>
        <p:spPr>
          <a:xfrm>
            <a:off x="3230091" y="2563192"/>
            <a:ext cx="1574527" cy="142056"/>
          </a:xfrm>
          <a:prstGeom prst="rect">
            <a:avLst/>
          </a:prstGeom>
          <a:noFill/>
          <a:ln/>
        </p:spPr>
        <p:txBody>
          <a:bodyPr wrap="none" lIns="0" tIns="0" rIns="0" bIns="0" rtlCol="0" anchor="t"/>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Pass</a:t>
            </a:r>
            <a:endParaRPr lang="en-US" sz="750" dirty="0"/>
          </a:p>
        </p:txBody>
      </p:sp>
      <p:sp>
        <p:nvSpPr>
          <p:cNvPr id="21" name="Text 19"/>
          <p:cNvSpPr/>
          <p:nvPr/>
        </p:nvSpPr>
        <p:spPr>
          <a:xfrm>
            <a:off x="600149" y="2814042"/>
            <a:ext cx="1574527" cy="142056"/>
          </a:xfrm>
          <a:prstGeom prst="rect">
            <a:avLst/>
          </a:prstGeom>
          <a:noFill/>
          <a:ln/>
        </p:spPr>
        <p:txBody>
          <a:bodyPr wrap="none" lIns="0" tIns="0" rIns="0" bIns="0" rtlCol="0" anchor="t"/>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TC-05</a:t>
            </a:r>
            <a:endParaRPr lang="en-US" sz="750" dirty="0"/>
          </a:p>
        </p:txBody>
      </p:sp>
      <p:sp>
        <p:nvSpPr>
          <p:cNvPr id="22" name="Text 20"/>
          <p:cNvSpPr/>
          <p:nvPr/>
        </p:nvSpPr>
        <p:spPr>
          <a:xfrm>
            <a:off x="1915120" y="2814042"/>
            <a:ext cx="1574527" cy="142056"/>
          </a:xfrm>
          <a:prstGeom prst="rect">
            <a:avLst/>
          </a:prstGeom>
          <a:noFill/>
          <a:ln/>
        </p:spPr>
        <p:txBody>
          <a:bodyPr wrap="none" lIns="0" tIns="0" rIns="0" bIns="0" rtlCol="0" anchor="t"/>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Delete Employee</a:t>
            </a:r>
            <a:endParaRPr lang="en-US" sz="750" dirty="0"/>
          </a:p>
        </p:txBody>
      </p:sp>
      <p:sp>
        <p:nvSpPr>
          <p:cNvPr id="23" name="Text 21"/>
          <p:cNvSpPr/>
          <p:nvPr/>
        </p:nvSpPr>
        <p:spPr>
          <a:xfrm>
            <a:off x="3230091" y="2814042"/>
            <a:ext cx="1574527" cy="142056"/>
          </a:xfrm>
          <a:prstGeom prst="rect">
            <a:avLst/>
          </a:prstGeom>
          <a:noFill/>
          <a:ln/>
        </p:spPr>
        <p:txBody>
          <a:bodyPr wrap="none" lIns="0" tIns="0" rIns="0" bIns="0" rtlCol="0" anchor="t"/>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Pass</a:t>
            </a:r>
            <a:endParaRPr lang="en-US" sz="750" dirty="0"/>
          </a:p>
        </p:txBody>
      </p:sp>
      <p:sp>
        <p:nvSpPr>
          <p:cNvPr id="24" name="Text 22"/>
          <p:cNvSpPr/>
          <p:nvPr/>
        </p:nvSpPr>
        <p:spPr>
          <a:xfrm>
            <a:off x="600149" y="3064892"/>
            <a:ext cx="1574527" cy="142056"/>
          </a:xfrm>
          <a:prstGeom prst="rect">
            <a:avLst/>
          </a:prstGeom>
          <a:noFill/>
          <a:ln/>
        </p:spPr>
        <p:txBody>
          <a:bodyPr wrap="none" lIns="0" tIns="0" rIns="0" bIns="0" rtlCol="0" anchor="t"/>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TC-06</a:t>
            </a:r>
            <a:endParaRPr lang="en-US" sz="750" dirty="0"/>
          </a:p>
        </p:txBody>
      </p:sp>
      <p:sp>
        <p:nvSpPr>
          <p:cNvPr id="25" name="Text 23"/>
          <p:cNvSpPr/>
          <p:nvPr/>
        </p:nvSpPr>
        <p:spPr>
          <a:xfrm>
            <a:off x="1915120" y="3064892"/>
            <a:ext cx="1574527" cy="142056"/>
          </a:xfrm>
          <a:prstGeom prst="rect">
            <a:avLst/>
          </a:prstGeom>
          <a:noFill/>
          <a:ln/>
        </p:spPr>
        <p:txBody>
          <a:bodyPr wrap="none" lIns="0" tIns="0" rIns="0" bIns="0" rtlCol="0" anchor="t"/>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Predict Burnout</a:t>
            </a:r>
            <a:endParaRPr lang="en-US" sz="750" dirty="0"/>
          </a:p>
        </p:txBody>
      </p:sp>
      <p:sp>
        <p:nvSpPr>
          <p:cNvPr id="26" name="Text 24"/>
          <p:cNvSpPr/>
          <p:nvPr/>
        </p:nvSpPr>
        <p:spPr>
          <a:xfrm>
            <a:off x="3230091" y="3064892"/>
            <a:ext cx="1574527" cy="142056"/>
          </a:xfrm>
          <a:prstGeom prst="rect">
            <a:avLst/>
          </a:prstGeom>
          <a:noFill/>
          <a:ln/>
        </p:spPr>
        <p:txBody>
          <a:bodyPr wrap="none" lIns="0" tIns="0" rIns="0" bIns="0" rtlCol="0" anchor="t"/>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Pass</a:t>
            </a:r>
            <a:endParaRPr lang="en-US" sz="750" dirty="0"/>
          </a:p>
        </p:txBody>
      </p:sp>
      <p:sp>
        <p:nvSpPr>
          <p:cNvPr id="27" name="Text 25"/>
          <p:cNvSpPr/>
          <p:nvPr/>
        </p:nvSpPr>
        <p:spPr>
          <a:xfrm>
            <a:off x="600149" y="3315742"/>
            <a:ext cx="1574527" cy="142056"/>
          </a:xfrm>
          <a:prstGeom prst="rect">
            <a:avLst/>
          </a:prstGeom>
          <a:noFill/>
          <a:ln/>
        </p:spPr>
        <p:txBody>
          <a:bodyPr wrap="none" lIns="0" tIns="0" rIns="0" bIns="0" rtlCol="0" anchor="t"/>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TC-07</a:t>
            </a:r>
            <a:endParaRPr lang="en-US" sz="750" dirty="0"/>
          </a:p>
        </p:txBody>
      </p:sp>
      <p:sp>
        <p:nvSpPr>
          <p:cNvPr id="28" name="Text 26"/>
          <p:cNvSpPr/>
          <p:nvPr/>
        </p:nvSpPr>
        <p:spPr>
          <a:xfrm>
            <a:off x="1915120" y="3315742"/>
            <a:ext cx="1574527" cy="142056"/>
          </a:xfrm>
          <a:prstGeom prst="rect">
            <a:avLst/>
          </a:prstGeom>
          <a:noFill/>
          <a:ln/>
        </p:spPr>
        <p:txBody>
          <a:bodyPr wrap="none" lIns="0" tIns="0" rIns="0" bIns="0" rtlCol="0" anchor="t"/>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Generate Report</a:t>
            </a:r>
            <a:endParaRPr lang="en-US" sz="750" dirty="0"/>
          </a:p>
        </p:txBody>
      </p:sp>
      <p:sp>
        <p:nvSpPr>
          <p:cNvPr id="29" name="Text 27"/>
          <p:cNvSpPr/>
          <p:nvPr/>
        </p:nvSpPr>
        <p:spPr>
          <a:xfrm>
            <a:off x="3230091" y="3315742"/>
            <a:ext cx="1574527" cy="142056"/>
          </a:xfrm>
          <a:prstGeom prst="rect">
            <a:avLst/>
          </a:prstGeom>
          <a:noFill/>
          <a:ln/>
        </p:spPr>
        <p:txBody>
          <a:bodyPr wrap="none" lIns="0" tIns="0" rIns="0" bIns="0" rtlCol="0" anchor="t"/>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Pass</a:t>
            </a:r>
            <a:endParaRPr lang="en-US" sz="750" dirty="0"/>
          </a:p>
        </p:txBody>
      </p:sp>
      <p:sp>
        <p:nvSpPr>
          <p:cNvPr id="30" name="Text 28"/>
          <p:cNvSpPr/>
          <p:nvPr/>
        </p:nvSpPr>
        <p:spPr>
          <a:xfrm>
            <a:off x="4697313" y="1260053"/>
            <a:ext cx="2026741" cy="154409"/>
          </a:xfrm>
          <a:prstGeom prst="rect">
            <a:avLst/>
          </a:prstGeom>
          <a:noFill/>
          <a:ln/>
        </p:spPr>
        <p:txBody>
          <a:bodyPr wrap="none" lIns="0" tIns="0" rIns="0" bIns="0" rtlCol="0" anchor="t"/>
          <a:lstStyle/>
          <a:p>
            <a:pPr algn="l" indent="0" marL="0">
              <a:lnSpc>
                <a:spcPct val="104000"/>
              </a:lnSpc>
              <a:buNone/>
            </a:pPr>
            <a:r>
              <a:rPr lang="en-US" sz="950" dirty="0">
                <a:solidFill>
                  <a:srgbClr val="201B18"/>
                </a:solidFill>
                <a:latin typeface="Platypi Medium" pitchFamily="34" charset="0"/>
                <a:ea typeface="Platypi Medium" pitchFamily="34" charset="-122"/>
                <a:cs typeface="Platypi Medium" pitchFamily="34" charset="-120"/>
              </a:rPr>
              <a:t>Performance Benchmarks</a:t>
            </a:r>
            <a:endParaRPr lang="en-US" sz="950" dirty="0"/>
          </a:p>
        </p:txBody>
      </p:sp>
      <p:pic>
        <p:nvPicPr>
          <p:cNvPr id="3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697313" y="1503015"/>
            <a:ext cx="1938263" cy="601414"/>
          </a:xfrm>
          <a:prstGeom prst="rect">
            <a:avLst/>
          </a:prstGeom>
        </p:spPr>
      </p:pic>
      <p:sp>
        <p:nvSpPr>
          <p:cNvPr id="32" name="Text 29"/>
          <p:cNvSpPr/>
          <p:nvPr/>
        </p:nvSpPr>
        <p:spPr>
          <a:xfrm>
            <a:off x="4867573" y="1616125"/>
            <a:ext cx="1235571" cy="154409"/>
          </a:xfrm>
          <a:prstGeom prst="rect">
            <a:avLst/>
          </a:prstGeom>
          <a:noFill/>
          <a:ln/>
        </p:spPr>
        <p:txBody>
          <a:bodyPr wrap="none" lIns="0" tIns="0" rIns="0" bIns="0" rtlCol="0" anchor="t"/>
          <a:lstStyle/>
          <a:p>
            <a:pPr algn="l" indent="0" marL="0">
              <a:lnSpc>
                <a:spcPct val="104000"/>
              </a:lnSpc>
              <a:buNone/>
            </a:pPr>
            <a:r>
              <a:rPr lang="en-US" sz="950" dirty="0">
                <a:solidFill>
                  <a:srgbClr val="504C49"/>
                </a:solidFill>
                <a:latin typeface="Platypi Medium" pitchFamily="34" charset="0"/>
                <a:ea typeface="Platypi Medium" pitchFamily="34" charset="-122"/>
                <a:cs typeface="Platypi Medium" pitchFamily="34" charset="-120"/>
              </a:rPr>
              <a:t>Login Response</a:t>
            </a:r>
            <a:endParaRPr lang="en-US" sz="950" dirty="0"/>
          </a:p>
        </p:txBody>
      </p:sp>
      <p:sp>
        <p:nvSpPr>
          <p:cNvPr id="33" name="Text 30"/>
          <p:cNvSpPr/>
          <p:nvPr/>
        </p:nvSpPr>
        <p:spPr>
          <a:xfrm>
            <a:off x="4867573" y="1849264"/>
            <a:ext cx="1654894" cy="142056"/>
          </a:xfrm>
          <a:prstGeom prst="rect">
            <a:avLst/>
          </a:prstGeom>
          <a:noFill/>
          <a:ln/>
        </p:spPr>
        <p:txBody>
          <a:bodyPr wrap="none" lIns="0" tIns="0" rIns="0" bIns="0" rtlCol="0" anchor="t"/>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Under 3 seconds</a:t>
            </a:r>
            <a:endParaRPr lang="en-US" sz="750" dirty="0"/>
          </a:p>
        </p:txBody>
      </p:sp>
      <p:pic>
        <p:nvPicPr>
          <p:cNvPr id="3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14306" y="1503015"/>
            <a:ext cx="1938338" cy="601414"/>
          </a:xfrm>
          <a:prstGeom prst="rect">
            <a:avLst/>
          </a:prstGeom>
        </p:spPr>
      </p:pic>
      <p:sp>
        <p:nvSpPr>
          <p:cNvPr id="35" name="Text 31"/>
          <p:cNvSpPr/>
          <p:nvPr/>
        </p:nvSpPr>
        <p:spPr>
          <a:xfrm>
            <a:off x="6884566" y="1616125"/>
            <a:ext cx="1235571" cy="154409"/>
          </a:xfrm>
          <a:prstGeom prst="rect">
            <a:avLst/>
          </a:prstGeom>
          <a:noFill/>
          <a:ln/>
        </p:spPr>
        <p:txBody>
          <a:bodyPr wrap="none" lIns="0" tIns="0" rIns="0" bIns="0" rtlCol="0" anchor="t"/>
          <a:lstStyle/>
          <a:p>
            <a:pPr algn="l" indent="0" marL="0">
              <a:lnSpc>
                <a:spcPct val="104000"/>
              </a:lnSpc>
              <a:buNone/>
            </a:pPr>
            <a:r>
              <a:rPr lang="en-US" sz="950" dirty="0">
                <a:solidFill>
                  <a:srgbClr val="504C49"/>
                </a:solidFill>
                <a:latin typeface="Platypi Medium" pitchFamily="34" charset="0"/>
                <a:ea typeface="Platypi Medium" pitchFamily="34" charset="-122"/>
                <a:cs typeface="Platypi Medium" pitchFamily="34" charset="-120"/>
              </a:rPr>
              <a:t>Employee Search</a:t>
            </a:r>
            <a:endParaRPr lang="en-US" sz="950" dirty="0"/>
          </a:p>
        </p:txBody>
      </p:sp>
      <p:sp>
        <p:nvSpPr>
          <p:cNvPr id="36" name="Text 32"/>
          <p:cNvSpPr/>
          <p:nvPr/>
        </p:nvSpPr>
        <p:spPr>
          <a:xfrm>
            <a:off x="6884566" y="1849264"/>
            <a:ext cx="1654969" cy="142056"/>
          </a:xfrm>
          <a:prstGeom prst="rect">
            <a:avLst/>
          </a:prstGeom>
          <a:noFill/>
          <a:ln/>
        </p:spPr>
        <p:txBody>
          <a:bodyPr wrap="none" lIns="0" tIns="0" rIns="0" bIns="0" rtlCol="0" anchor="t"/>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Under 2 seconds</a:t>
            </a:r>
            <a:endParaRPr lang="en-US" sz="750" dirty="0"/>
          </a:p>
        </p:txBody>
      </p:sp>
      <p:pic>
        <p:nvPicPr>
          <p:cNvPr id="3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97313" y="2183160"/>
            <a:ext cx="1938263" cy="601414"/>
          </a:xfrm>
          <a:prstGeom prst="rect">
            <a:avLst/>
          </a:prstGeom>
        </p:spPr>
      </p:pic>
      <p:sp>
        <p:nvSpPr>
          <p:cNvPr id="38" name="Text 33"/>
          <p:cNvSpPr/>
          <p:nvPr/>
        </p:nvSpPr>
        <p:spPr>
          <a:xfrm>
            <a:off x="4867573" y="2296269"/>
            <a:ext cx="1237283" cy="154409"/>
          </a:xfrm>
          <a:prstGeom prst="rect">
            <a:avLst/>
          </a:prstGeom>
          <a:noFill/>
          <a:ln/>
        </p:spPr>
        <p:txBody>
          <a:bodyPr wrap="none" lIns="0" tIns="0" rIns="0" bIns="0" rtlCol="0" anchor="t"/>
          <a:lstStyle/>
          <a:p>
            <a:pPr algn="l" indent="0" marL="0">
              <a:lnSpc>
                <a:spcPct val="104000"/>
              </a:lnSpc>
              <a:buNone/>
            </a:pPr>
            <a:r>
              <a:rPr lang="en-US" sz="950" dirty="0">
                <a:solidFill>
                  <a:srgbClr val="504C49"/>
                </a:solidFill>
                <a:latin typeface="Platypi Medium" pitchFamily="34" charset="0"/>
                <a:ea typeface="Platypi Medium" pitchFamily="34" charset="-122"/>
                <a:cs typeface="Platypi Medium" pitchFamily="34" charset="-120"/>
              </a:rPr>
              <a:t>Prediction Response</a:t>
            </a:r>
            <a:endParaRPr lang="en-US" sz="950" dirty="0"/>
          </a:p>
        </p:txBody>
      </p:sp>
      <p:sp>
        <p:nvSpPr>
          <p:cNvPr id="39" name="Text 34"/>
          <p:cNvSpPr/>
          <p:nvPr/>
        </p:nvSpPr>
        <p:spPr>
          <a:xfrm>
            <a:off x="4867573" y="2529408"/>
            <a:ext cx="1654894" cy="142056"/>
          </a:xfrm>
          <a:prstGeom prst="rect">
            <a:avLst/>
          </a:prstGeom>
          <a:noFill/>
          <a:ln/>
        </p:spPr>
        <p:txBody>
          <a:bodyPr wrap="none" lIns="0" tIns="0" rIns="0" bIns="0" rtlCol="0" anchor="t"/>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Under 5 seconds</a:t>
            </a:r>
            <a:endParaRPr lang="en-US" sz="750" dirty="0"/>
          </a:p>
        </p:txBody>
      </p:sp>
      <p:pic>
        <p:nvPicPr>
          <p:cNvPr id="4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714306" y="2183160"/>
            <a:ext cx="1938338" cy="601414"/>
          </a:xfrm>
          <a:prstGeom prst="rect">
            <a:avLst/>
          </a:prstGeom>
        </p:spPr>
      </p:pic>
      <p:sp>
        <p:nvSpPr>
          <p:cNvPr id="41" name="Text 35"/>
          <p:cNvSpPr/>
          <p:nvPr/>
        </p:nvSpPr>
        <p:spPr>
          <a:xfrm>
            <a:off x="6884566" y="2296269"/>
            <a:ext cx="1235571" cy="154409"/>
          </a:xfrm>
          <a:prstGeom prst="rect">
            <a:avLst/>
          </a:prstGeom>
          <a:noFill/>
          <a:ln/>
        </p:spPr>
        <p:txBody>
          <a:bodyPr wrap="none" lIns="0" tIns="0" rIns="0" bIns="0" rtlCol="0" anchor="t"/>
          <a:lstStyle/>
          <a:p>
            <a:pPr algn="l" indent="0" marL="0">
              <a:lnSpc>
                <a:spcPct val="104000"/>
              </a:lnSpc>
              <a:buNone/>
            </a:pPr>
            <a:r>
              <a:rPr lang="en-US" sz="950" dirty="0">
                <a:solidFill>
                  <a:srgbClr val="504C49"/>
                </a:solidFill>
                <a:latin typeface="Platypi Medium" pitchFamily="34" charset="0"/>
                <a:ea typeface="Platypi Medium" pitchFamily="34" charset="-122"/>
                <a:cs typeface="Platypi Medium" pitchFamily="34" charset="-120"/>
              </a:rPr>
              <a:t>Report Generation</a:t>
            </a:r>
            <a:endParaRPr lang="en-US" sz="950" dirty="0"/>
          </a:p>
        </p:txBody>
      </p:sp>
      <p:sp>
        <p:nvSpPr>
          <p:cNvPr id="42" name="Text 36"/>
          <p:cNvSpPr/>
          <p:nvPr/>
        </p:nvSpPr>
        <p:spPr>
          <a:xfrm>
            <a:off x="6884566" y="2529408"/>
            <a:ext cx="1654969" cy="142056"/>
          </a:xfrm>
          <a:prstGeom prst="rect">
            <a:avLst/>
          </a:prstGeom>
          <a:noFill/>
          <a:ln/>
        </p:spPr>
        <p:txBody>
          <a:bodyPr wrap="none" lIns="0" tIns="0" rIns="0" bIns="0" rtlCol="0" anchor="t"/>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Under 10 seconds</a:t>
            </a:r>
            <a:endParaRPr lang="en-US" sz="750" dirty="0"/>
          </a:p>
        </p:txBody>
      </p:sp>
      <p:sp>
        <p:nvSpPr>
          <p:cNvPr id="43" name="Shape 37"/>
          <p:cNvSpPr/>
          <p:nvPr/>
        </p:nvSpPr>
        <p:spPr>
          <a:xfrm>
            <a:off x="496119" y="3691682"/>
            <a:ext cx="2664768" cy="1109588"/>
          </a:xfrm>
          <a:prstGeom prst="roundRect">
            <a:avLst>
              <a:gd name="adj" fmla="val 1336"/>
            </a:avLst>
          </a:prstGeom>
          <a:solidFill>
            <a:srgbClr val="F9F7F7"/>
          </a:solidFill>
          <a:ln/>
        </p:spPr>
      </p:sp>
      <p:sp>
        <p:nvSpPr>
          <p:cNvPr id="44" name="Text 38"/>
          <p:cNvSpPr/>
          <p:nvPr/>
        </p:nvSpPr>
        <p:spPr>
          <a:xfrm>
            <a:off x="594940" y="3790504"/>
            <a:ext cx="1235571" cy="154409"/>
          </a:xfrm>
          <a:prstGeom prst="rect">
            <a:avLst/>
          </a:prstGeom>
          <a:noFill/>
          <a:ln/>
        </p:spPr>
        <p:txBody>
          <a:bodyPr wrap="none" lIns="0" tIns="0" rIns="0" bIns="0" rtlCol="0" anchor="t"/>
          <a:lstStyle/>
          <a:p>
            <a:pPr algn="l" indent="0" marL="0">
              <a:lnSpc>
                <a:spcPct val="104000"/>
              </a:lnSpc>
              <a:buNone/>
            </a:pPr>
            <a:r>
              <a:rPr lang="en-US" sz="950" dirty="0">
                <a:solidFill>
                  <a:srgbClr val="504C49"/>
                </a:solidFill>
                <a:latin typeface="Platypi Medium" pitchFamily="34" charset="0"/>
                <a:ea typeface="Platypi Medium" pitchFamily="34" charset="-122"/>
                <a:cs typeface="Platypi Medium" pitchFamily="34" charset="-120"/>
              </a:rPr>
              <a:t>Unit Testing</a:t>
            </a:r>
            <a:endParaRPr lang="en-US" sz="950" dirty="0"/>
          </a:p>
        </p:txBody>
      </p:sp>
      <p:sp>
        <p:nvSpPr>
          <p:cNvPr id="45" name="Text 39"/>
          <p:cNvSpPr/>
          <p:nvPr/>
        </p:nvSpPr>
        <p:spPr>
          <a:xfrm>
            <a:off x="594940" y="3992166"/>
            <a:ext cx="2467124" cy="568226"/>
          </a:xfrm>
          <a:prstGeom prst="rect">
            <a:avLst/>
          </a:prstGeom>
          <a:noFill/>
          <a:ln/>
        </p:spPr>
        <p:txBody>
          <a:bodyPr wrap="square" lIns="0" tIns="0" rIns="0" bIns="0" rtlCol="0" anchor="t">
            <a:normAutofit/>
          </a:bodyPr>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All 7 modules (Authentication, Employee, Department, Attendance, Performance, Burnout Prediction, Reports) passed independent verification</a:t>
            </a:r>
            <a:endParaRPr lang="en-US" sz="750" dirty="0"/>
          </a:p>
        </p:txBody>
      </p:sp>
      <p:sp>
        <p:nvSpPr>
          <p:cNvPr id="46" name="Shape 40"/>
          <p:cNvSpPr/>
          <p:nvPr/>
        </p:nvSpPr>
        <p:spPr>
          <a:xfrm>
            <a:off x="3239616" y="3691682"/>
            <a:ext cx="2664768" cy="1109588"/>
          </a:xfrm>
          <a:prstGeom prst="roundRect">
            <a:avLst>
              <a:gd name="adj" fmla="val 1336"/>
            </a:avLst>
          </a:prstGeom>
          <a:solidFill>
            <a:srgbClr val="F9F7F7"/>
          </a:solidFill>
          <a:ln/>
        </p:spPr>
      </p:sp>
      <p:sp>
        <p:nvSpPr>
          <p:cNvPr id="47" name="Text 41"/>
          <p:cNvSpPr/>
          <p:nvPr/>
        </p:nvSpPr>
        <p:spPr>
          <a:xfrm>
            <a:off x="3338438" y="3790504"/>
            <a:ext cx="1235571" cy="154409"/>
          </a:xfrm>
          <a:prstGeom prst="rect">
            <a:avLst/>
          </a:prstGeom>
          <a:noFill/>
          <a:ln/>
        </p:spPr>
        <p:txBody>
          <a:bodyPr wrap="none" lIns="0" tIns="0" rIns="0" bIns="0" rtlCol="0" anchor="t"/>
          <a:lstStyle/>
          <a:p>
            <a:pPr algn="l" indent="0" marL="0">
              <a:lnSpc>
                <a:spcPct val="104000"/>
              </a:lnSpc>
              <a:buNone/>
            </a:pPr>
            <a:r>
              <a:rPr lang="en-US" sz="950" dirty="0">
                <a:solidFill>
                  <a:srgbClr val="504C49"/>
                </a:solidFill>
                <a:latin typeface="Platypi Medium" pitchFamily="34" charset="0"/>
                <a:ea typeface="Platypi Medium" pitchFamily="34" charset="-122"/>
                <a:cs typeface="Platypi Medium" pitchFamily="34" charset="-120"/>
              </a:rPr>
              <a:t>Integration Testing</a:t>
            </a:r>
            <a:endParaRPr lang="en-US" sz="950" dirty="0"/>
          </a:p>
        </p:txBody>
      </p:sp>
      <p:sp>
        <p:nvSpPr>
          <p:cNvPr id="48" name="Text 42"/>
          <p:cNvSpPr/>
          <p:nvPr/>
        </p:nvSpPr>
        <p:spPr>
          <a:xfrm>
            <a:off x="3338438" y="3992166"/>
            <a:ext cx="2467124" cy="426169"/>
          </a:xfrm>
          <a:prstGeom prst="rect">
            <a:avLst/>
          </a:prstGeom>
          <a:noFill/>
          <a:ln/>
        </p:spPr>
        <p:txBody>
          <a:bodyPr wrap="square" lIns="0" tIns="0" rIns="0" bIns="0" rtlCol="0" anchor="t">
            <a:normAutofit/>
          </a:bodyPr>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Frontend–Backend, Backend–Database, Backend–ML, and Authentication–Protected APIs exchanged data successfully without major issues</a:t>
            </a:r>
            <a:endParaRPr lang="en-US" sz="750" dirty="0"/>
          </a:p>
        </p:txBody>
      </p:sp>
      <p:sp>
        <p:nvSpPr>
          <p:cNvPr id="49" name="Shape 43"/>
          <p:cNvSpPr/>
          <p:nvPr/>
        </p:nvSpPr>
        <p:spPr>
          <a:xfrm>
            <a:off x="5983114" y="3691682"/>
            <a:ext cx="2664768" cy="1109588"/>
          </a:xfrm>
          <a:prstGeom prst="roundRect">
            <a:avLst>
              <a:gd name="adj" fmla="val 1336"/>
            </a:avLst>
          </a:prstGeom>
          <a:solidFill>
            <a:srgbClr val="F9F7F7"/>
          </a:solidFill>
          <a:ln/>
        </p:spPr>
      </p:sp>
      <p:sp>
        <p:nvSpPr>
          <p:cNvPr id="50" name="Text 44"/>
          <p:cNvSpPr/>
          <p:nvPr/>
        </p:nvSpPr>
        <p:spPr>
          <a:xfrm>
            <a:off x="6081936" y="3790504"/>
            <a:ext cx="1235571" cy="154409"/>
          </a:xfrm>
          <a:prstGeom prst="rect">
            <a:avLst/>
          </a:prstGeom>
          <a:noFill/>
          <a:ln/>
        </p:spPr>
        <p:txBody>
          <a:bodyPr wrap="none" lIns="0" tIns="0" rIns="0" bIns="0" rtlCol="0" anchor="t"/>
          <a:lstStyle/>
          <a:p>
            <a:pPr algn="l" indent="0" marL="0">
              <a:lnSpc>
                <a:spcPct val="104000"/>
              </a:lnSpc>
              <a:buNone/>
            </a:pPr>
            <a:r>
              <a:rPr lang="en-US" sz="950" dirty="0">
                <a:solidFill>
                  <a:srgbClr val="504C49"/>
                </a:solidFill>
                <a:latin typeface="Platypi Medium" pitchFamily="34" charset="0"/>
                <a:ea typeface="Platypi Medium" pitchFamily="34" charset="-122"/>
                <a:cs typeface="Platypi Medium" pitchFamily="34" charset="-120"/>
              </a:rPr>
              <a:t>UAT &amp; Security</a:t>
            </a:r>
            <a:endParaRPr lang="en-US" sz="950" dirty="0"/>
          </a:p>
        </p:txBody>
      </p:sp>
      <p:sp>
        <p:nvSpPr>
          <p:cNvPr id="51" name="Text 45"/>
          <p:cNvSpPr/>
          <p:nvPr/>
        </p:nvSpPr>
        <p:spPr>
          <a:xfrm>
            <a:off x="6081936" y="3992166"/>
            <a:ext cx="2467124" cy="710282"/>
          </a:xfrm>
          <a:prstGeom prst="rect">
            <a:avLst/>
          </a:prstGeom>
          <a:noFill/>
          <a:ln/>
        </p:spPr>
        <p:txBody>
          <a:bodyPr wrap="square" lIns="0" tIns="0" rIns="0" bIns="0" rtlCol="0" anchor="t">
            <a:normAutofit/>
          </a:bodyPr>
          <a:lstStyle/>
          <a:p>
            <a:pPr algn="l" indent="0" marL="0">
              <a:lnSpc>
                <a:spcPct val="120000"/>
              </a:lnSpc>
              <a:buNone/>
            </a:pPr>
            <a:r>
              <a:rPr lang="en-US" sz="750" dirty="0">
                <a:solidFill>
                  <a:srgbClr val="504C49"/>
                </a:solidFill>
                <a:latin typeface="Source Serif 4" pitchFamily="34" charset="0"/>
                <a:ea typeface="Source Serif 4" pitchFamily="34" charset="-122"/>
                <a:cs typeface="Source Serif 4" pitchFamily="34" charset="-120"/>
              </a:rPr>
              <a:t>End-user evaluation confirmed easy usability, responsive interface, accurate predictions, and correct report generation. No major security vulnerabilities identified; JWT validation, SQL injection testing, and password encryption verified</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409724"/>
            <a:ext cx="7188398" cy="333077"/>
          </a:xfrm>
          <a:prstGeom prst="rect">
            <a:avLst/>
          </a:prstGeom>
          <a:noFill/>
          <a:ln/>
        </p:spPr>
        <p:txBody>
          <a:bodyPr wrap="none" lIns="0" tIns="0" rIns="0" bIns="0" rtlCol="0" anchor="t"/>
          <a:lstStyle/>
          <a:p>
            <a:pPr algn="l" indent="0" marL="0">
              <a:lnSpc>
                <a:spcPct val="104000"/>
              </a:lnSpc>
              <a:buNone/>
            </a:pPr>
            <a:r>
              <a:rPr lang="en-US" sz="2050" dirty="0">
                <a:solidFill>
                  <a:srgbClr val="201B18"/>
                </a:solidFill>
                <a:latin typeface="Platypi Medium" pitchFamily="34" charset="0"/>
                <a:ea typeface="Platypi Medium" pitchFamily="34" charset="-122"/>
                <a:cs typeface="Platypi Medium" pitchFamily="34" charset="-120"/>
              </a:rPr>
              <a:t>Chapters 10–12: Results, Conclusion &amp; Future Scope</a:t>
            </a:r>
            <a:endParaRPr lang="en-US" sz="20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926009"/>
            <a:ext cx="2656136" cy="3160365"/>
          </a:xfrm>
          <a:prstGeom prst="rect">
            <a:avLst/>
          </a:prstGeom>
        </p:spPr>
      </p:pic>
      <p:sp>
        <p:nvSpPr>
          <p:cNvPr id="4" name="Text 1"/>
          <p:cNvSpPr/>
          <p:nvPr/>
        </p:nvSpPr>
        <p:spPr>
          <a:xfrm>
            <a:off x="674117" y="1046857"/>
            <a:ext cx="1332458" cy="166539"/>
          </a:xfrm>
          <a:prstGeom prst="rect">
            <a:avLst/>
          </a:prstGeom>
          <a:noFill/>
          <a:ln/>
        </p:spPr>
        <p:txBody>
          <a:bodyPr wrap="none" lIns="0" tIns="0" rIns="0" bIns="0" rtlCol="0" anchor="t"/>
          <a:lstStyle/>
          <a:p>
            <a:pPr algn="l" indent="0" marL="0">
              <a:lnSpc>
                <a:spcPct val="104000"/>
              </a:lnSpc>
              <a:buNone/>
            </a:pPr>
            <a:r>
              <a:rPr lang="en-US" sz="1000" dirty="0">
                <a:solidFill>
                  <a:srgbClr val="504C49"/>
                </a:solidFill>
                <a:latin typeface="Platypi Medium" pitchFamily="34" charset="0"/>
                <a:ea typeface="Platypi Medium" pitchFamily="34" charset="-122"/>
                <a:cs typeface="Platypi Medium" pitchFamily="34" charset="-120"/>
              </a:rPr>
              <a:t>Application Results</a:t>
            </a:r>
            <a:endParaRPr lang="en-US" sz="1000" dirty="0"/>
          </a:p>
        </p:txBody>
      </p:sp>
      <p:sp>
        <p:nvSpPr>
          <p:cNvPr id="5" name="Text 2"/>
          <p:cNvSpPr/>
          <p:nvPr/>
        </p:nvSpPr>
        <p:spPr>
          <a:xfrm>
            <a:off x="674117" y="1268313"/>
            <a:ext cx="2357289" cy="1585764"/>
          </a:xfrm>
          <a:prstGeom prst="rect">
            <a:avLst/>
          </a:prstGeom>
          <a:noFill/>
          <a:ln/>
        </p:spPr>
        <p:txBody>
          <a:bodyPr wrap="square" lIns="0" tIns="0" rIns="0" bIns="0" rtlCol="0" anchor="t">
            <a:normAutofit/>
          </a:bodyPr>
          <a:lstStyle/>
          <a:p>
            <a:pPr algn="l" indent="0" marL="0">
              <a:lnSpc>
                <a:spcPct val="124000"/>
              </a:lnSpc>
              <a:buNone/>
            </a:pPr>
            <a:r>
              <a:rPr lang="en-US" sz="800" dirty="0">
                <a:solidFill>
                  <a:srgbClr val="504C49"/>
                </a:solidFill>
                <a:latin typeface="Source Serif 4" pitchFamily="34" charset="0"/>
                <a:ea typeface="Source Serif 4" pitchFamily="34" charset="-122"/>
                <a:cs typeface="Source Serif 4" pitchFamily="34" charset="-120"/>
              </a:rPr>
              <a:t>All modules — Authentication, Dashboard, Employee Management, Department Management, Attendance, Performance, Burnout Prediction, and Reports — functioned successfully. The ML model classifies burnout risk (High/Medium/Low) using employee attributes. Evaluation metrics (Accuracy, Precision, Recall, F1-Score, ROC-AUC) and confusion matrix to be updated with actual results.</a:t>
            </a:r>
            <a:endParaRPr lang="en-US" sz="8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43858" y="926009"/>
            <a:ext cx="2656210" cy="3160365"/>
          </a:xfrm>
          <a:prstGeom prst="rect">
            <a:avLst/>
          </a:prstGeom>
        </p:spPr>
      </p:pic>
      <p:sp>
        <p:nvSpPr>
          <p:cNvPr id="7" name="Text 3"/>
          <p:cNvSpPr/>
          <p:nvPr/>
        </p:nvSpPr>
        <p:spPr>
          <a:xfrm>
            <a:off x="3421856" y="1046857"/>
            <a:ext cx="2210098" cy="166539"/>
          </a:xfrm>
          <a:prstGeom prst="rect">
            <a:avLst/>
          </a:prstGeom>
          <a:noFill/>
          <a:ln/>
        </p:spPr>
        <p:txBody>
          <a:bodyPr wrap="none" lIns="0" tIns="0" rIns="0" bIns="0" rtlCol="0" anchor="t"/>
          <a:lstStyle/>
          <a:p>
            <a:pPr algn="l" indent="0" marL="0">
              <a:lnSpc>
                <a:spcPct val="104000"/>
              </a:lnSpc>
              <a:buNone/>
            </a:pPr>
            <a:r>
              <a:rPr lang="en-US" sz="1000" dirty="0">
                <a:solidFill>
                  <a:srgbClr val="504C49"/>
                </a:solidFill>
                <a:latin typeface="Platypi Medium" pitchFamily="34" charset="0"/>
                <a:ea typeface="Platypi Medium" pitchFamily="34" charset="-122"/>
                <a:cs typeface="Platypi Medium" pitchFamily="34" charset="-120"/>
              </a:rPr>
              <a:t>Conclusion &amp; Objectives Achieved</a:t>
            </a:r>
            <a:endParaRPr lang="en-US" sz="1000" dirty="0"/>
          </a:p>
        </p:txBody>
      </p:sp>
      <p:sp>
        <p:nvSpPr>
          <p:cNvPr id="8" name="Text 4"/>
          <p:cNvSpPr/>
          <p:nvPr/>
        </p:nvSpPr>
        <p:spPr>
          <a:xfrm>
            <a:off x="3421856" y="1268313"/>
            <a:ext cx="2357363" cy="1902916"/>
          </a:xfrm>
          <a:prstGeom prst="rect">
            <a:avLst/>
          </a:prstGeom>
          <a:noFill/>
          <a:ln/>
        </p:spPr>
        <p:txBody>
          <a:bodyPr wrap="square" lIns="0" tIns="0" rIns="0" bIns="0" rtlCol="0" anchor="t">
            <a:normAutofit/>
          </a:bodyPr>
          <a:lstStyle/>
          <a:p>
            <a:pPr algn="l" indent="0" marL="0">
              <a:lnSpc>
                <a:spcPct val="124000"/>
              </a:lnSpc>
              <a:buNone/>
            </a:pPr>
            <a:r>
              <a:rPr lang="en-US" sz="800" dirty="0">
                <a:solidFill>
                  <a:srgbClr val="504C49"/>
                </a:solidFill>
                <a:latin typeface="Source Serif 4" pitchFamily="34" charset="0"/>
                <a:ea typeface="Source Serif 4" pitchFamily="34" charset="-122"/>
                <a:cs typeface="Source Serif 4" pitchFamily="34" charset="-120"/>
              </a:rPr>
              <a:t>All project objectives were successfully achieved: secure employee management, RBAC authentication, database integration, REST API development, ML-based burnout prediction, interactive dashboards, and report generation. The system demonstrates practical application of Software Engineering, DBMS, Web Technologies, and AI in solving a real-world organizational problem. Challenges included data preprocessing, ML model selection, multi-component integration, and performance optimization.</a:t>
            </a:r>
            <a:endParaRPr lang="en-US" sz="8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91671" y="926009"/>
            <a:ext cx="2656210" cy="3160365"/>
          </a:xfrm>
          <a:prstGeom prst="rect">
            <a:avLst/>
          </a:prstGeom>
        </p:spPr>
      </p:pic>
      <p:sp>
        <p:nvSpPr>
          <p:cNvPr id="10" name="Text 5"/>
          <p:cNvSpPr/>
          <p:nvPr/>
        </p:nvSpPr>
        <p:spPr>
          <a:xfrm>
            <a:off x="6169670" y="1046857"/>
            <a:ext cx="1332458" cy="166539"/>
          </a:xfrm>
          <a:prstGeom prst="rect">
            <a:avLst/>
          </a:prstGeom>
          <a:noFill/>
          <a:ln/>
        </p:spPr>
        <p:txBody>
          <a:bodyPr wrap="none" lIns="0" tIns="0" rIns="0" bIns="0" rtlCol="0" anchor="t"/>
          <a:lstStyle/>
          <a:p>
            <a:pPr algn="l" indent="0" marL="0">
              <a:lnSpc>
                <a:spcPct val="104000"/>
              </a:lnSpc>
              <a:buNone/>
            </a:pPr>
            <a:r>
              <a:rPr lang="en-US" sz="1000" dirty="0">
                <a:solidFill>
                  <a:srgbClr val="504C49"/>
                </a:solidFill>
                <a:latin typeface="Platypi Medium" pitchFamily="34" charset="0"/>
                <a:ea typeface="Platypi Medium" pitchFamily="34" charset="-122"/>
                <a:cs typeface="Platypi Medium" pitchFamily="34" charset="-120"/>
              </a:rPr>
              <a:t>Future Roadmap</a:t>
            </a:r>
            <a:endParaRPr lang="en-US" sz="1000" dirty="0"/>
          </a:p>
        </p:txBody>
      </p:sp>
      <p:sp>
        <p:nvSpPr>
          <p:cNvPr id="11" name="Text 6"/>
          <p:cNvSpPr/>
          <p:nvPr/>
        </p:nvSpPr>
        <p:spPr>
          <a:xfrm>
            <a:off x="6169670" y="1268313"/>
            <a:ext cx="2357363" cy="2697212"/>
          </a:xfrm>
          <a:prstGeom prst="rect">
            <a:avLst/>
          </a:prstGeom>
          <a:noFill/>
          <a:ln/>
        </p:spPr>
        <p:txBody>
          <a:bodyPr wrap="square" lIns="0" tIns="0" rIns="0" bIns="0" rtlCol="0" anchor="t">
            <a:normAutofit/>
          </a:bodyPr>
          <a:lstStyle/>
          <a:p>
            <a:pPr algn="l" marL="162560" indent="-162560">
              <a:lnSpc>
                <a:spcPct val="124000"/>
              </a:lnSpc>
              <a:buSzPct val="100000"/>
              <a:buChar char="•"/>
            </a:pPr>
            <a:r>
              <a:rPr lang="en-US" sz="800" b="1" dirty="0">
                <a:solidFill>
                  <a:srgbClr val="504C49"/>
                </a:solidFill>
                <a:latin typeface="Source Serif 4 Bold" pitchFamily="34" charset="0"/>
                <a:ea typeface="Source Serif 4 Bold" pitchFamily="34" charset="-122"/>
                <a:cs typeface="Source Serif 4 Bold" pitchFamily="34" charset="-120"/>
              </a:rPr>
              <a:t>ML Enhancements:</a:t>
            </a:r>
            <a:pPr algn="l" marL="162560" indent="-162560">
              <a:lnSpc>
                <a:spcPct val="124000"/>
              </a:lnSpc>
              <a:buSzPct val="100000"/>
              <a:buChar char="•"/>
            </a:pPr>
            <a:r>
              <a:rPr lang="en-US" sz="800" dirty="0">
                <a:solidFill>
                  <a:srgbClr val="504C49"/>
                </a:solidFill>
                <a:latin typeface="Source Serif 4" pitchFamily="34" charset="0"/>
                <a:ea typeface="Source Serif 4" pitchFamily="34" charset="-122"/>
                <a:cs typeface="Source Serif 4" pitchFamily="34" charset="-120"/>
              </a:rPr>
              <a:t> Deep learning, ensemble algorithms, Explainable AI (XAI), automated hyperparameter tuning</a:t>
            </a:r>
            <a:endParaRPr lang="en-US" sz="800" dirty="0"/>
          </a:p>
          <a:p>
            <a:pPr algn="l" marL="162560" indent="-162560">
              <a:lnSpc>
                <a:spcPct val="124000"/>
              </a:lnSpc>
              <a:buSzPct val="100000"/>
              <a:buChar char="•"/>
            </a:pPr>
            <a:r>
              <a:rPr lang="en-US" sz="800" b="1" dirty="0">
                <a:solidFill>
                  <a:srgbClr val="504C49"/>
                </a:solidFill>
                <a:latin typeface="Source Serif 4 Bold" pitchFamily="34" charset="0"/>
                <a:ea typeface="Source Serif 4 Bold" pitchFamily="34" charset="-122"/>
                <a:cs typeface="Source Serif 4 Bold" pitchFamily="34" charset="-120"/>
              </a:rPr>
              <a:t>Real-Time Analytics:</a:t>
            </a:r>
            <a:pPr algn="l" marL="162560" indent="-162560">
              <a:lnSpc>
                <a:spcPct val="124000"/>
              </a:lnSpc>
              <a:buSzPct val="100000"/>
              <a:buChar char="•"/>
            </a:pPr>
            <a:r>
              <a:rPr lang="en-US" sz="800" dirty="0">
                <a:solidFill>
                  <a:srgbClr val="504C49"/>
                </a:solidFill>
                <a:latin typeface="Source Serif 4" pitchFamily="34" charset="0"/>
                <a:ea typeface="Source Serif 4" pitchFamily="34" charset="-122"/>
                <a:cs typeface="Source Serif 4" pitchFamily="34" charset="-120"/>
              </a:rPr>
              <a:t> Live dashboards, continuous burnout evaluation, event-driven notifications</a:t>
            </a:r>
            <a:endParaRPr lang="en-US" sz="800" dirty="0"/>
          </a:p>
          <a:p>
            <a:pPr algn="l" marL="162560" indent="-162560">
              <a:lnSpc>
                <a:spcPct val="124000"/>
              </a:lnSpc>
              <a:buSzPct val="100000"/>
              <a:buChar char="•"/>
            </a:pPr>
            <a:r>
              <a:rPr lang="en-US" sz="800" b="1" dirty="0">
                <a:solidFill>
                  <a:srgbClr val="504C49"/>
                </a:solidFill>
                <a:latin typeface="Source Serif 4 Bold" pitchFamily="34" charset="0"/>
                <a:ea typeface="Source Serif 4 Bold" pitchFamily="34" charset="-122"/>
                <a:cs typeface="Source Serif 4 Bold" pitchFamily="34" charset="-120"/>
              </a:rPr>
              <a:t>Cloud &amp; Mobile:</a:t>
            </a:r>
            <a:pPr algn="l" marL="162560" indent="-162560">
              <a:lnSpc>
                <a:spcPct val="124000"/>
              </a:lnSpc>
              <a:buSzPct val="100000"/>
              <a:buChar char="•"/>
            </a:pPr>
            <a:r>
              <a:rPr lang="en-US" sz="800" dirty="0">
                <a:solidFill>
                  <a:srgbClr val="504C49"/>
                </a:solidFill>
                <a:latin typeface="Source Serif 4" pitchFamily="34" charset="0"/>
                <a:ea typeface="Source Serif 4" pitchFamily="34" charset="-122"/>
                <a:cs typeface="Source Serif 4" pitchFamily="34" charset="-120"/>
              </a:rPr>
              <a:t> AWS/Azure/GCP deployment, Android/iOS app with push notifications</a:t>
            </a:r>
            <a:endParaRPr lang="en-US" sz="800" dirty="0"/>
          </a:p>
          <a:p>
            <a:pPr algn="l" marL="162560" indent="-162560">
              <a:lnSpc>
                <a:spcPct val="124000"/>
              </a:lnSpc>
              <a:buSzPct val="100000"/>
              <a:buChar char="•"/>
            </a:pPr>
            <a:r>
              <a:rPr lang="en-US" sz="800" b="1" dirty="0">
                <a:solidFill>
                  <a:srgbClr val="504C49"/>
                </a:solidFill>
                <a:latin typeface="Source Serif 4 Bold" pitchFamily="34" charset="0"/>
                <a:ea typeface="Source Serif 4 Bold" pitchFamily="34" charset="-122"/>
                <a:cs typeface="Source Serif 4 Bold" pitchFamily="34" charset="-120"/>
              </a:rPr>
              <a:t>Enterprise Integration:</a:t>
            </a:r>
            <a:pPr algn="l" marL="162560" indent="-162560">
              <a:lnSpc>
                <a:spcPct val="124000"/>
              </a:lnSpc>
              <a:buSzPct val="100000"/>
              <a:buChar char="•"/>
            </a:pPr>
            <a:r>
              <a:rPr lang="en-US" sz="800" dirty="0">
                <a:solidFill>
                  <a:srgbClr val="504C49"/>
                </a:solidFill>
                <a:latin typeface="Source Serif 4" pitchFamily="34" charset="0"/>
                <a:ea typeface="Source Serif 4" pitchFamily="34" charset="-122"/>
                <a:cs typeface="Source Serif 4" pitchFamily="34" charset="-120"/>
              </a:rPr>
              <a:t> HRMS, ERP, payroll, and biometric system connectivity</a:t>
            </a:r>
            <a:endParaRPr lang="en-US" sz="800" dirty="0"/>
          </a:p>
          <a:p>
            <a:pPr algn="l" marL="162560" indent="-162560">
              <a:lnSpc>
                <a:spcPct val="124000"/>
              </a:lnSpc>
              <a:buSzPct val="100000"/>
              <a:buChar char="•"/>
            </a:pPr>
            <a:r>
              <a:rPr lang="en-US" sz="800" b="1" dirty="0">
                <a:solidFill>
                  <a:srgbClr val="504C49"/>
                </a:solidFill>
                <a:latin typeface="Source Serif 4 Bold" pitchFamily="34" charset="0"/>
                <a:ea typeface="Source Serif 4 Bold" pitchFamily="34" charset="-122"/>
                <a:cs typeface="Source Serif 4 Bold" pitchFamily="34" charset="-120"/>
              </a:rPr>
              <a:t>Advanced Security:</a:t>
            </a:r>
            <a:pPr algn="l" marL="162560" indent="-162560">
              <a:lnSpc>
                <a:spcPct val="124000"/>
              </a:lnSpc>
              <a:buSzPct val="100000"/>
              <a:buChar char="•"/>
            </a:pPr>
            <a:r>
              <a:rPr lang="en-US" sz="800" dirty="0">
                <a:solidFill>
                  <a:srgbClr val="504C49"/>
                </a:solidFill>
                <a:latin typeface="Source Serif 4" pitchFamily="34" charset="0"/>
                <a:ea typeface="Source Serif 4" pitchFamily="34" charset="-122"/>
                <a:cs typeface="Source Serif 4" pitchFamily="34" charset="-120"/>
              </a:rPr>
              <a:t> MFA, SSO, OAuth 2.0, biometric authentication</a:t>
            </a:r>
            <a:endParaRPr lang="en-US" sz="800" dirty="0"/>
          </a:p>
          <a:p>
            <a:pPr algn="l" marL="162560" indent="-162560">
              <a:lnSpc>
                <a:spcPct val="124000"/>
              </a:lnSpc>
              <a:buSzPct val="100000"/>
              <a:buChar char="•"/>
            </a:pPr>
            <a:r>
              <a:rPr lang="en-US" sz="800" b="1" dirty="0">
                <a:solidFill>
                  <a:srgbClr val="504C49"/>
                </a:solidFill>
                <a:latin typeface="Source Serif 4 Bold" pitchFamily="34" charset="0"/>
                <a:ea typeface="Source Serif 4 Bold" pitchFamily="34" charset="-122"/>
                <a:cs typeface="Source Serif 4 Bold" pitchFamily="34" charset="-120"/>
              </a:rPr>
              <a:t>Scalability:</a:t>
            </a:r>
            <a:pPr algn="l" marL="162560" indent="-162560">
              <a:lnSpc>
                <a:spcPct val="124000"/>
              </a:lnSpc>
              <a:buSzPct val="100000"/>
              <a:buChar char="•"/>
            </a:pPr>
            <a:r>
              <a:rPr lang="en-US" sz="800" dirty="0">
                <a:solidFill>
                  <a:srgbClr val="504C49"/>
                </a:solidFill>
                <a:latin typeface="Source Serif 4" pitchFamily="34" charset="0"/>
                <a:ea typeface="Source Serif 4" pitchFamily="34" charset="-122"/>
                <a:cs typeface="Source Serif 4" pitchFamily="34" charset="-120"/>
              </a:rPr>
              <a:t> Microservices, Docker containerization, Kubernetes orchestration</a:t>
            </a:r>
            <a:endParaRPr lang="en-US" sz="800" dirty="0"/>
          </a:p>
        </p:txBody>
      </p:sp>
      <p:sp>
        <p:nvSpPr>
          <p:cNvPr id="12" name="Shape 7"/>
          <p:cNvSpPr/>
          <p:nvPr/>
        </p:nvSpPr>
        <p:spPr>
          <a:xfrm>
            <a:off x="496119" y="4189363"/>
            <a:ext cx="8151763" cy="544413"/>
          </a:xfrm>
          <a:prstGeom prst="roundRect">
            <a:avLst>
              <a:gd name="adj" fmla="val 2937"/>
            </a:avLst>
          </a:prstGeom>
          <a:solidFill>
            <a:srgbClr val="F3E3D8"/>
          </a:solidFill>
          <a:ln/>
        </p:spPr>
      </p:sp>
      <p:pic>
        <p:nvPicPr>
          <p:cNvPr id="13" name="Image 3" descr="preencoded.png">    </p:cNvPr>
          <p:cNvPicPr>
            <a:picLocks noChangeAspect="1"/>
          </p:cNvPicPr>
          <p:nvPr/>
        </p:nvPicPr>
        <p:blipFill>
          <a:blip r:embed="rId7"/>
          <a:stretch>
            <a:fillRect/>
          </a:stretch>
        </p:blipFill>
        <p:spPr>
          <a:xfrm>
            <a:off x="602679" y="4338861"/>
            <a:ext cx="133201" cy="106561"/>
          </a:xfrm>
          <a:prstGeom prst="rect">
            <a:avLst/>
          </a:prstGeom>
        </p:spPr>
      </p:pic>
      <p:sp>
        <p:nvSpPr>
          <p:cNvPr id="14" name="Text 8"/>
          <p:cNvSpPr/>
          <p:nvPr/>
        </p:nvSpPr>
        <p:spPr>
          <a:xfrm>
            <a:off x="842442" y="4307607"/>
            <a:ext cx="7698879" cy="317153"/>
          </a:xfrm>
          <a:prstGeom prst="rect">
            <a:avLst/>
          </a:prstGeom>
          <a:noFill/>
          <a:ln/>
        </p:spPr>
        <p:txBody>
          <a:bodyPr wrap="square" lIns="0" tIns="0" rIns="0" bIns="0" rtlCol="0" anchor="t">
            <a:normAutofit/>
          </a:bodyPr>
          <a:lstStyle/>
          <a:p>
            <a:pPr algn="l" indent="0" marL="0">
              <a:lnSpc>
                <a:spcPct val="124000"/>
              </a:lnSpc>
              <a:buNone/>
            </a:pPr>
            <a:r>
              <a:rPr lang="en-US" sz="800" b="1" dirty="0">
                <a:solidFill>
                  <a:srgbClr val="000000"/>
                </a:solidFill>
                <a:latin typeface="Source Serif 4 Bold" pitchFamily="34" charset="0"/>
                <a:ea typeface="Source Serif 4 Bold" pitchFamily="34" charset="-122"/>
                <a:cs typeface="Source Serif 4 Bold" pitchFamily="34" charset="-120"/>
              </a:rPr>
              <a:t>Current Limitations:</a:t>
            </a:r>
            <a:pPr algn="l" indent="0" marL="0">
              <a:lnSpc>
                <a:spcPct val="124000"/>
              </a:lnSpc>
              <a:buNone/>
            </a:pPr>
            <a:r>
              <a:rPr lang="en-US" sz="800" dirty="0">
                <a:solidFill>
                  <a:srgbClr val="000000"/>
                </a:solidFill>
                <a:latin typeface="Source Serif 4" pitchFamily="34" charset="0"/>
                <a:ea typeface="Source Serif 4" pitchFamily="34" charset="-122"/>
                <a:cs typeface="Source Serif 4" pitchFamily="34" charset="-120"/>
              </a:rPr>
              <a:t> Prediction accuracy depends on dataset quality; no third-party HRMS integration; real-time streaming unsupported; continuous model retraining required for optimal accuracy.</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2026-06-29T16:21:39Z</dcterms:created>
  <dcterms:modified xsi:type="dcterms:W3CDTF">2026-06-29T16:21:39Z</dcterms:modified>
</cp:coreProperties>
</file>